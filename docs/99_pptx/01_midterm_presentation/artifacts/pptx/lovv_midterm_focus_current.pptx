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6a6996cab8433f" /><Relationship Type="http://schemas.openxmlformats.org/officeDocument/2006/relationships/extended-properties" Target="/docProps/app.xml" Id="R3de3ce95760c45a0" /><Relationship Type="http://schemas.openxmlformats.org/officeDocument/2006/relationships/officeDocument" Target="/ppt/presentation.xml" Id="R600c5c44c86f4f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2a48ef3a8c415f"/>
  </p:sldMasterIdLst>
  <p:notesMasterIdLst>
    <p:notesMasterId xmlns:r="http://schemas.openxmlformats.org/officeDocument/2006/relationships" r:id="R83f76380f56942b8"/>
  </p:notesMasterIdLst>
  <p:sldIdLst>
    <p:sldId xmlns:r="http://schemas.openxmlformats.org/officeDocument/2006/relationships" id="256" r:id="R3606acbc55264b63"/>
    <p:sldId xmlns:r="http://schemas.openxmlformats.org/officeDocument/2006/relationships" id="257" r:id="Re50d2157453442a2"/>
    <p:sldId xmlns:r="http://schemas.openxmlformats.org/officeDocument/2006/relationships" id="258" r:id="Ra7ee4a71ebed4be4"/>
    <p:sldId xmlns:r="http://schemas.openxmlformats.org/officeDocument/2006/relationships" id="259" r:id="R378bd4a85f334575"/>
    <p:sldId xmlns:r="http://schemas.openxmlformats.org/officeDocument/2006/relationships" id="260" r:id="R4ab83f6abe754c71"/>
    <p:sldId xmlns:r="http://schemas.openxmlformats.org/officeDocument/2006/relationships" id="261" r:id="R5a57149266dc4598"/>
    <p:sldId xmlns:r="http://schemas.openxmlformats.org/officeDocument/2006/relationships" id="262" r:id="R5ba4b5ca0da64333"/>
    <p:sldId xmlns:r="http://schemas.openxmlformats.org/officeDocument/2006/relationships" id="263" r:id="R591ee573b23243ec"/>
    <p:sldId xmlns:r="http://schemas.openxmlformats.org/officeDocument/2006/relationships" id="264" r:id="R01809efef2334d58"/>
    <p:sldId xmlns:r="http://schemas.openxmlformats.org/officeDocument/2006/relationships" id="265" r:id="Rfeb952016bc94795"/>
    <p:sldId xmlns:r="http://schemas.openxmlformats.org/officeDocument/2006/relationships" id="266" r:id="Rf5d5babf463a4f7f"/>
    <p:sldId xmlns:r="http://schemas.openxmlformats.org/officeDocument/2006/relationships" id="267" r:id="Re13c59c6117f47ac"/>
    <p:sldId xmlns:r="http://schemas.openxmlformats.org/officeDocument/2006/relationships" id="268" r:id="R01327c7318794a34"/>
    <p:sldId xmlns:r="http://schemas.openxmlformats.org/officeDocument/2006/relationships" id="269" r:id="R66c2377b9ee24b5e"/>
    <p:sldId xmlns:r="http://schemas.openxmlformats.org/officeDocument/2006/relationships" id="270" r:id="R70dab9fb55e9453a"/>
    <p:sldId xmlns:r="http://schemas.openxmlformats.org/officeDocument/2006/relationships" id="271" r:id="R1f77fcf0d0a745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8a87e77ed5439a" /><Relationship Type="http://schemas.openxmlformats.org/officeDocument/2006/relationships/slideMaster" Target="/ppt/slideMasters/slideMaster1.xml" Id="R3d2a48ef3a8c415f" /><Relationship Type="http://schemas.openxmlformats.org/officeDocument/2006/relationships/notesMaster" Target="/ppt/notesMasters/notesMaster1.xml" Id="R83f76380f56942b8" /><Relationship Type="http://schemas.openxmlformats.org/officeDocument/2006/relationships/presProps" Target="/ppt/presProps.xml" Id="R6e7fe167b5b34562" /><Relationship Type="http://schemas.openxmlformats.org/officeDocument/2006/relationships/viewProps" Target="/ppt/viewProps.xml" Id="R535e06e75a89474b" /><Relationship Type="http://schemas.openxmlformats.org/officeDocument/2006/relationships/tableStyles" Target="/ppt/tableStyles.xml" Id="Rd7ebbb0cb99e493b" /><Relationship Type="http://schemas.openxmlformats.org/officeDocument/2006/relationships/slide" Target="/ppt/slides/slide1.xml" Id="R3606acbc55264b63" /><Relationship Type="http://schemas.openxmlformats.org/officeDocument/2006/relationships/slide" Target="/ppt/slides/slide2.xml" Id="Re50d2157453442a2" /><Relationship Type="http://schemas.openxmlformats.org/officeDocument/2006/relationships/slide" Target="/ppt/slides/slide3.xml" Id="Ra7ee4a71ebed4be4" /><Relationship Type="http://schemas.openxmlformats.org/officeDocument/2006/relationships/slide" Target="/ppt/slides/slide4.xml" Id="R378bd4a85f334575" /><Relationship Type="http://schemas.openxmlformats.org/officeDocument/2006/relationships/slide" Target="/ppt/slides/slide5.xml" Id="R4ab83f6abe754c71" /><Relationship Type="http://schemas.openxmlformats.org/officeDocument/2006/relationships/slide" Target="/ppt/slides/slide6.xml" Id="R5a57149266dc4598" /><Relationship Type="http://schemas.openxmlformats.org/officeDocument/2006/relationships/slide" Target="/ppt/slides/slide7.xml" Id="R5ba4b5ca0da64333" /><Relationship Type="http://schemas.openxmlformats.org/officeDocument/2006/relationships/slide" Target="/ppt/slides/slide8.xml" Id="R591ee573b23243ec" /><Relationship Type="http://schemas.openxmlformats.org/officeDocument/2006/relationships/slide" Target="/ppt/slides/slide9.xml" Id="R01809efef2334d58" /><Relationship Type="http://schemas.openxmlformats.org/officeDocument/2006/relationships/slide" Target="/ppt/slides/slide10.xml" Id="Rfeb952016bc94795" /><Relationship Type="http://schemas.openxmlformats.org/officeDocument/2006/relationships/slide" Target="/ppt/slides/slide11.xml" Id="Rf5d5babf463a4f7f" /><Relationship Type="http://schemas.openxmlformats.org/officeDocument/2006/relationships/slide" Target="/ppt/slides/slide12.xml" Id="Re13c59c6117f47ac" /><Relationship Type="http://schemas.openxmlformats.org/officeDocument/2006/relationships/slide" Target="/ppt/slides/slide13.xml" Id="R01327c7318794a34" /><Relationship Type="http://schemas.openxmlformats.org/officeDocument/2006/relationships/slide" Target="/ppt/slides/slide14.xml" Id="R66c2377b9ee24b5e" /><Relationship Type="http://schemas.openxmlformats.org/officeDocument/2006/relationships/slide" Target="/ppt/slides/slide15.xml" Id="R70dab9fb55e9453a" /><Relationship Type="http://schemas.openxmlformats.org/officeDocument/2006/relationships/slide" Target="/ppt/slides/slide16.xml" Id="R1f77fcf0d0a7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30eefc97e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5d2d668994c70" /><Relationship Type="http://schemas.openxmlformats.org/officeDocument/2006/relationships/notesMaster" Target="/ppt/notesMasters/notesMaster1.xml" Id="R0d4fe0ebb17e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61619c3af442ac" /><Relationship Type="http://schemas.openxmlformats.org/officeDocument/2006/relationships/notesMaster" Target="/ppt/notesMasters/notesMaster1.xml" Id="R2efdacb60794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af7e7057b4441" /><Relationship Type="http://schemas.openxmlformats.org/officeDocument/2006/relationships/notesMaster" Target="/ppt/notesMasters/notesMaster1.xml" Id="R4795a29d1b2a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1db3e752244c2" /><Relationship Type="http://schemas.openxmlformats.org/officeDocument/2006/relationships/notesMaster" Target="/ppt/notesMasters/notesMaster1.xml" Id="R0fe04657964b45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1c8d2f96e54ef7" /><Relationship Type="http://schemas.openxmlformats.org/officeDocument/2006/relationships/notesMaster" Target="/ppt/notesMasters/notesMaster1.xml" Id="R7a9e0473f9b6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b801dd20c84354" /><Relationship Type="http://schemas.openxmlformats.org/officeDocument/2006/relationships/notesMaster" Target="/ppt/notesMasters/notesMaster1.xml" Id="R62982848da49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d54f578fa442b" /><Relationship Type="http://schemas.openxmlformats.org/officeDocument/2006/relationships/notesMaster" Target="/ppt/notesMasters/notesMaster1.xml" Id="R7f0c6cf1342f49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0e5f259a00402c" /><Relationship Type="http://schemas.openxmlformats.org/officeDocument/2006/relationships/notesMaster" Target="/ppt/notesMasters/notesMaster1.xml" Id="Re2cc30b88a7e4d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77270a48364794" /><Relationship Type="http://schemas.openxmlformats.org/officeDocument/2006/relationships/notesMaster" Target="/ppt/notesMasters/notesMaster1.xml" Id="R582be6a9150b4a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d9383fd2a644f3" /><Relationship Type="http://schemas.openxmlformats.org/officeDocument/2006/relationships/notesMaster" Target="/ppt/notesMasters/notesMaster1.xml" Id="Re100e3a03da24b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17f7ff87be4d50" /><Relationship Type="http://schemas.openxmlformats.org/officeDocument/2006/relationships/notesMaster" Target="/ppt/notesMasters/notesMaster1.xml" Id="R946615b0175d45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75c46ebc4a4aa9" /><Relationship Type="http://schemas.openxmlformats.org/officeDocument/2006/relationships/notesMaster" Target="/ppt/notesMasters/notesMaster1.xml" Id="Rdb563adfe0ab47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f563607b1842b0" /><Relationship Type="http://schemas.openxmlformats.org/officeDocument/2006/relationships/notesMaster" Target="/ppt/notesMasters/notesMaster1.xml" Id="R997d858bd9ce4a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dfaf76826d41e0" /><Relationship Type="http://schemas.openxmlformats.org/officeDocument/2006/relationships/notesMaster" Target="/ppt/notesMasters/notesMaster1.xml" Id="Rf28d80664fa744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4131e0b42941d5" /><Relationship Type="http://schemas.openxmlformats.org/officeDocument/2006/relationships/notesMaster" Target="/ppt/notesMasters/notesMaster1.xml" Id="Rd3cc53818f3640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405b91de684c12" /><Relationship Type="http://schemas.openxmlformats.org/officeDocument/2006/relationships/notesMaster" Target="/ppt/notesMasters/notesMaster1.xml" Id="R0f24f4c6fa8a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Lovv는 Local, Vibe, Voyage를 합친 이름입니다.</a:t>
            </a:r>
          </a:p>
          <a:p xmlns:a="http://schemas.openxmlformats.org/drawingml/2006/main">
            <a:r>
              <a:t>저희가 만들고 싶은 것은 유명 관광지만 보여주는 여행 앱이 아니라, 여행자가 지금 갈 만한 한일 소도시를 발견하게 하는 목적지 탐색 엔진입니다.</a:t>
            </a:r>
          </a:p>
          <a:p xmlns:a="http://schemas.openxmlformats.org/drawingml/2006/main">
            <a:r>
              <a:t>첫 장에서는 로고보다 중앙 골목을 먼저 보게 만들고, 시선을 가운데로 모은 뒤 Lovv의 한 줄 정의를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오버투어리즘은 단순히 사람이 많다는 뜻이 아닙니다.</a:t>
            </a:r>
          </a:p>
          <a:p xmlns:a="http://schemas.openxmlformats.org/drawingml/2006/main">
            <a:r>
              <a:t>특정 관광지와 특정 시기에 수요가 몰리면서 여행 만족도, 주민 생활, 환경 부담이 동시에 흔들리는 현상입니다.</a:t>
            </a:r>
          </a:p>
          <a:p xmlns:a="http://schemas.openxmlformats.org/drawingml/2006/main">
            <a:r>
              <a:t>여기서 핵심은 가운데의 수요 집중입니다. 주변 키워드는 모두 이 집중에서 파생되는 결과로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이미 많이 알려진 관광지입니다. 수요가 몰리면 혼잡이 생깁니다.</a:t>
            </a:r>
          </a:p>
          <a:p xmlns:a="http://schemas.openxmlformats.org/drawingml/2006/main">
            <a:r>
              <a:t>오른쪽은 좋은 경험이 있어도 정보 접근성이 낮은 소도시입니다. 문제는 두 영역이 동시에 손해를 본다는 점입니다.</a:t>
            </a:r>
          </a:p>
          <a:p xmlns:a="http://schemas.openxmlformats.org/drawingml/2006/main">
            <a:r>
              <a:t>그래서 Lovv는 여행자를 소도시로 강제로 보내는 서비스가 아니라, 발견되지 않던 대안을 비교 가능하게 만드는 서비스로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숫자 세 개만 보이게 했습니다.</a:t>
            </a:r>
          </a:p>
          <a:p xmlns:a="http://schemas.openxmlformats.org/drawingml/2006/main">
            <a:r>
              <a:t>가운데 +261%는 기존 초안의 라쿠텐 근거입니다. 일본 소도시 예약 증가가 이미 나타났다는 신호입니다.</a:t>
            </a:r>
          </a:p>
          <a:p xmlns:a="http://schemas.openxmlformats.org/drawingml/2006/main">
            <a:r>
              <a:t>왼쪽은 한국에서 소도시 언급이 증가했다는 관심 신호이고, 오른쪽은 일본 사가현 숙박 거래액이 크게 늘었다는 거래 신호입니다.</a:t>
            </a:r>
          </a:p>
          <a:p xmlns:a="http://schemas.openxmlformats.org/drawingml/2006/main">
            <a:r>
              <a:t>즉 Lovv의 타깃은 막연한 아이디어가 아니라 한국과 일본 양쪽에서 관찰되는 흐름과 맞닿아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오버투어리즘은 단순히 사람이 많다는 뜻이 아닙니다.</a:t>
            </a:r>
          </a:p>
          <a:p xmlns:a="http://schemas.openxmlformats.org/drawingml/2006/main">
            <a:r>
              <a:t>특정 관광지와 특정 시기에 수요가 몰리면서 여행 만족도, 주민 생활, 환경 부담이 동시에 흔들리는 현상입니다.</a:t>
            </a:r>
          </a:p>
          <a:p xmlns:a="http://schemas.openxmlformats.org/drawingml/2006/main">
            <a:r>
              <a:t>여기서 핵심은 가운데의 수요 집중입니다. 주변 키워드는 모두 이 집중에서 파생되는 결과로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솔루션은 단순히 챗봇이 문장을 생성하는 구조가 아닙니다.</a:t>
            </a:r>
          </a:p>
          <a:p xmlns:a="http://schemas.openxmlformats.org/drawingml/2006/main">
            <a:r>
              <a:t>사용자의 국가, 시기, 취향 입력을 받고, RAG 검색과 검증 과정을 거쳐 추천 결과를 만듭니다.</a:t>
            </a:r>
          </a:p>
          <a:p xmlns:a="http://schemas.openxmlformats.org/drawingml/2006/main">
            <a:r>
              <a:t>핵심 차별점은 추천 결과 안에 이유, 출처, 검증 상태를 같이 보여준다는 것입니다.</a:t>
            </a:r>
          </a:p>
          <a:p xmlns:a="http://schemas.openxmlformats.org/drawingml/2006/main">
            <a:r>
              <a:t>중간 발표에서는 기술 상세를 깊게 들어가기보다, 이 흐름이 왜 문제 해결에 맞는지만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마지막은 중간 발표와 최종 발표의 역할을 나눕니다.</a:t>
            </a:r>
          </a:p>
          <a:p xmlns:a="http://schemas.openxmlformats.org/drawingml/2006/main">
            <a:r>
              <a:t>중간 발표에서는 완성된 프로덕션을 주장하지 않습니다. 좁은 범위에서 핵심 가설이 실제로 작동할 수 있음을 보여줍니다.</a:t>
            </a:r>
          </a:p>
          <a:p xmlns:a="http://schemas.openxmlformats.org/drawingml/2006/main">
            <a:r>
              <a:t>최종 발표에서는 이 PoC를 바탕으로 운영, 데이터 갱신, 성능, 서비스 확장까지 증명하는 방향으로 이어갑니다.</a:t>
            </a:r>
          </a:p>
          <a:p xmlns:a="http://schemas.openxmlformats.org/drawingml/2006/main">
            <a:r>
              <a:t>따라서 오늘의 결론은 '이미 다 만들었다'가 아니라 '문제, 시장, 해결 흐름이 연결됐고 PoC로 검증 가능한 단계에 있다'입니다.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솔루션은 단순히 챗봇이 문장을 생성하는 구조가 아닙니다.</a:t>
            </a:r>
          </a:p>
          <a:p xmlns:a="http://schemas.openxmlformats.org/drawingml/2006/main">
            <a:r>
              <a:t>사용자의 국가, 시기, 취향 입력을 받고, RAG 검색과 검증 과정을 거쳐 추천 결과를 만듭니다.</a:t>
            </a:r>
          </a:p>
          <a:p xmlns:a="http://schemas.openxmlformats.org/drawingml/2006/main">
            <a:r>
              <a:t>핵심 차별점은 추천 결과 안에 이유, 출처, 검증 상태를 같이 보여준다는 것입니다.</a:t>
            </a:r>
          </a:p>
          <a:p xmlns:a="http://schemas.openxmlformats.org/drawingml/2006/main">
            <a:r>
              <a:t>중간 발표에서는 기술 상세를 깊게 들어가기보다, 이 흐름이 왜 문제 해결에 맞는지만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솔루션은 단순히 챗봇이 문장을 생성하는 구조가 아닙니다.</a:t>
            </a:r>
          </a:p>
          <a:p xmlns:a="http://schemas.openxmlformats.org/drawingml/2006/main">
            <a:r>
              <a:t>사용자의 국가, 시기, 취향 입력을 받고, RAG 검색과 검증 과정을 거쳐 추천 결과를 만듭니다.</a:t>
            </a:r>
          </a:p>
          <a:p xmlns:a="http://schemas.openxmlformats.org/drawingml/2006/main">
            <a:r>
              <a:t>핵심 차별점은 추천 결과 안에 이유, 출처, 검증 상태를 같이 보여준다는 것입니다.</a:t>
            </a:r>
          </a:p>
          <a:p xmlns:a="http://schemas.openxmlformats.org/drawingml/2006/main">
            <a:r>
              <a:t>중간 발표에서는 기술 상세를 깊게 들어가기보다, 이 흐름이 왜 문제 해결에 맞는지만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솔루션은 단순히 챗봇이 문장을 생성하는 구조가 아닙니다.</a:t>
            </a:r>
          </a:p>
          <a:p xmlns:a="http://schemas.openxmlformats.org/drawingml/2006/main">
            <a:r>
              <a:t>사용자의 국가, 시기, 취향 입력을 받고, RAG 검색과 검증 과정을 거쳐 추천 결과를 만듭니다.</a:t>
            </a:r>
          </a:p>
          <a:p xmlns:a="http://schemas.openxmlformats.org/drawingml/2006/main">
            <a:r>
              <a:t>핵심 차별점은 추천 결과 안에 이유, 출처, 검증 상태를 같이 보여준다는 것입니다.</a:t>
            </a:r>
          </a:p>
          <a:p xmlns:a="http://schemas.openxmlformats.org/drawingml/2006/main">
            <a:r>
              <a:t>중간 발표에서는 기술 상세를 깊게 들어가기보다, 이 흐름이 왜 문제 해결에 맞는지만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이미 많이 알려진 관광지입니다. 수요가 몰리면 혼잡이 생깁니다.</a:t>
            </a:r>
          </a:p>
          <a:p xmlns:a="http://schemas.openxmlformats.org/drawingml/2006/main">
            <a:r>
              <a:t>오른쪽은 좋은 경험이 있어도 정보 접근성이 낮은 소도시입니다. 문제는 두 영역이 동시에 손해를 본다는 점입니다.</a:t>
            </a:r>
          </a:p>
          <a:p xmlns:a="http://schemas.openxmlformats.org/drawingml/2006/main">
            <a:r>
              <a:t>그래서 Lovv는 여행자를 소도시로 강제로 보내는 서비스가 아니라, 발견되지 않던 대안을 비교 가능하게 만드는 서비스로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마지막은 중간 발표와 최종 발표의 역할을 나눕니다.</a:t>
            </a:r>
          </a:p>
          <a:p xmlns:a="http://schemas.openxmlformats.org/drawingml/2006/main">
            <a:r>
              <a:t>중간 발표에서는 완성된 프로덕션을 주장하지 않습니다. 좁은 범위에서 핵심 가설이 실제로 작동할 수 있음을 보여줍니다.</a:t>
            </a:r>
          </a:p>
          <a:p xmlns:a="http://schemas.openxmlformats.org/drawingml/2006/main">
            <a:r>
              <a:t>최종 발표에서는 이 PoC를 바탕으로 운영, 데이터 갱신, 성능, 서비스 확장까지 증명하는 방향으로 이어갑니다.</a:t>
            </a:r>
          </a:p>
          <a:p xmlns:a="http://schemas.openxmlformats.org/drawingml/2006/main">
            <a:r>
              <a:t>따라서 오늘의 결론은 '이미 다 만들었다'가 아니라 '문제, 시장, 해결 흐름이 연결됐고 PoC로 검증 가능한 단계에 있다'입니다.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이미 많이 알려진 관광지입니다. 수요가 몰리면 혼잡이 생깁니다.</a:t>
            </a:r>
          </a:p>
          <a:p xmlns:a="http://schemas.openxmlformats.org/drawingml/2006/main">
            <a:r>
              <a:t>오른쪽은 좋은 경험이 있어도 정보 접근성이 낮은 소도시입니다. 문제는 두 영역이 동시에 손해를 본다는 점입니다.</a:t>
            </a:r>
          </a:p>
          <a:p xmlns:a="http://schemas.openxmlformats.org/drawingml/2006/main">
            <a:r>
              <a:t>그래서 Lovv는 여행자를 소도시로 강제로 보내는 서비스가 아니라, 발견되지 않던 대안을 비교 가능하게 만드는 서비스로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이미 많이 알려진 관광지입니다. 수요가 몰리면 혼잡이 생깁니다.</a:t>
            </a:r>
          </a:p>
          <a:p xmlns:a="http://schemas.openxmlformats.org/drawingml/2006/main">
            <a:r>
              <a:t>오른쪽은 좋은 경험이 있어도 정보 접근성이 낮은 소도시입니다. 문제는 두 영역이 동시에 손해를 본다는 점입니다.</a:t>
            </a:r>
          </a:p>
          <a:p xmlns:a="http://schemas.openxmlformats.org/drawingml/2006/main">
            <a:r>
              <a:t>그래서 Lovv는 여행자를 소도시로 강제로 보내는 서비스가 아니라, 발견되지 않던 대안을 비교 가능하게 만드는 서비스로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숫자 세 개만 보이게 했습니다.</a:t>
            </a:r>
          </a:p>
          <a:p xmlns:a="http://schemas.openxmlformats.org/drawingml/2006/main">
            <a:r>
              <a:t>가운데 +261%는 기존 초안의 라쿠텐 근거입니다. 일본 소도시 예약 증가가 이미 나타났다는 신호입니다.</a:t>
            </a:r>
          </a:p>
          <a:p xmlns:a="http://schemas.openxmlformats.org/drawingml/2006/main">
            <a:r>
              <a:t>왼쪽은 한국에서 소도시 언급이 증가했다는 관심 신호이고, 오른쪽은 일본 사가현 숙박 거래액이 크게 늘었다는 거래 신호입니다.</a:t>
            </a:r>
          </a:p>
          <a:p xmlns:a="http://schemas.openxmlformats.org/drawingml/2006/main">
            <a:r>
              <a:t>즉 Lovv의 타깃은 막연한 아이디어가 아니라 한국과 일본 양쪽에서 관찰되는 흐름과 맞닿아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마지막은 중간 발표와 최종 발표의 역할을 나눕니다.</a:t>
            </a:r>
          </a:p>
          <a:p xmlns:a="http://schemas.openxmlformats.org/drawingml/2006/main">
            <a:r>
              <a:t>중간 발표에서는 완성된 프로덕션을 주장하지 않습니다. 좁은 범위에서 핵심 가설이 실제로 작동할 수 있음을 보여줍니다.</a:t>
            </a:r>
          </a:p>
          <a:p xmlns:a="http://schemas.openxmlformats.org/drawingml/2006/main">
            <a:r>
              <a:t>최종 발표에서는 이 PoC를 바탕으로 운영, 데이터 갱신, 성능, 서비스 확장까지 증명하는 방향으로 이어갑니다.</a:t>
            </a:r>
          </a:p>
          <a:p xmlns:a="http://schemas.openxmlformats.org/drawingml/2006/main">
            <a:r>
              <a:t>따라서 오늘의 결론은 '이미 다 만들었다'가 아니라 '문제, 시장, 해결 흐름이 연결됐고 PoC로 검증 가능한 단계에 있다'입니다.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f847cc8b04f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f94e97dab4a87" /><Relationship Type="http://schemas.openxmlformats.org/officeDocument/2006/relationships/slideLayout" Target="/ppt/slideLayouts/slideLayout1.xml" Id="Rc3a04faa50df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04faa50df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4c6a314894c3c" /><Relationship Type="http://schemas.openxmlformats.org/officeDocument/2006/relationships/image" Target="/ppt/media/image.jpeg" Id="R8462a92fa5614650" /><Relationship Type="http://schemas.openxmlformats.org/officeDocument/2006/relationships/image" Target="/ppt/media/image.png" Id="R30d86f45d8454215" /><Relationship Type="http://schemas.openxmlformats.org/officeDocument/2006/relationships/notesSlide" Target="/ppt/notesSlides/notesSlide1.xml" Id="Rb0b22ace444041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b1d28b0eb4e63" /><Relationship Type="http://schemas.openxmlformats.org/officeDocument/2006/relationships/notesSlide" Target="/ppt/notesSlides/notesSlide2.xml" Id="R9c2453c2ac544b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affba19a84f6a" /><Relationship Type="http://schemas.openxmlformats.org/officeDocument/2006/relationships/image" Target="/ppt/media/image2.jpeg" Id="Rda7d59038ae14f45" /><Relationship Type="http://schemas.openxmlformats.org/officeDocument/2006/relationships/image" Target="/ppt/media/image3.jpeg" Id="R963578b2ec764569" /><Relationship Type="http://schemas.openxmlformats.org/officeDocument/2006/relationships/notesSlide" Target="/ppt/notesSlides/notesSlide3.xml" Id="Rbb3ea8e880d14b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dad93116c4e22" /><Relationship Type="http://schemas.openxmlformats.org/officeDocument/2006/relationships/notesSlide" Target="/ppt/notesSlides/notesSlide4.xml" Id="Re74b8eef6b45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fcc6b47dc4ea4" /><Relationship Type="http://schemas.openxmlformats.org/officeDocument/2006/relationships/notesSlide" Target="/ppt/notesSlides/notesSlide5.xml" Id="R11c31e1b225e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bc4ee48ca4929" /><Relationship Type="http://schemas.openxmlformats.org/officeDocument/2006/relationships/notesSlide" Target="/ppt/notesSlides/notesSlide6.xml" Id="R4812e23932fb4c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d700974ce4464" /><Relationship Type="http://schemas.openxmlformats.org/officeDocument/2006/relationships/image" Target="/ppt/media/image4.jpeg" Id="R0b26a538aad54ce9" /><Relationship Type="http://schemas.openxmlformats.org/officeDocument/2006/relationships/notesSlide" Target="/ppt/notesSlides/notesSlide7.xml" Id="R61802ddaa0c24e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6d239fd6346bb" /><Relationship Type="http://schemas.openxmlformats.org/officeDocument/2006/relationships/notesSlide" Target="/ppt/notesSlides/notesSlide8.xml" Id="R13aa590ac38140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a26154ab846ac" /><Relationship Type="http://schemas.openxmlformats.org/officeDocument/2006/relationships/notesSlide" Target="/ppt/notesSlides/notesSlide9.xml" Id="R5ff5d238d6834d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cfe10ed1d4e26" /><Relationship Type="http://schemas.openxmlformats.org/officeDocument/2006/relationships/notesSlide" Target="/ppt/notesSlides/notesSlide10.xml" Id="R28160d5ec0a840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749ce59754557" /><Relationship Type="http://schemas.openxmlformats.org/officeDocument/2006/relationships/image" Target="/ppt/media/image2.jpeg" Id="Rbbae2df99a7a4a28" /><Relationship Type="http://schemas.openxmlformats.org/officeDocument/2006/relationships/image" Target="/ppt/media/image3.jpeg" Id="R4f3426587d474cd7" /><Relationship Type="http://schemas.openxmlformats.org/officeDocument/2006/relationships/notesSlide" Target="/ppt/notesSlides/notesSlide11.xml" Id="R5358c6cb01f346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6c64040a84a94" /><Relationship Type="http://schemas.openxmlformats.org/officeDocument/2006/relationships/image" Target="/ppt/media/image4.jpeg" Id="Ra1c62319b7bf40b5" /><Relationship Type="http://schemas.openxmlformats.org/officeDocument/2006/relationships/notesSlide" Target="/ppt/notesSlides/notesSlide12.xml" Id="R00dd23a800bb45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40b2c173d418b" /><Relationship Type="http://schemas.openxmlformats.org/officeDocument/2006/relationships/image" Target="/ppt/media/image2.jpeg" Id="R66865f0f61124223" /><Relationship Type="http://schemas.openxmlformats.org/officeDocument/2006/relationships/image" Target="/ppt/media/image3.jpeg" Id="Ra8613b83f793429e" /><Relationship Type="http://schemas.openxmlformats.org/officeDocument/2006/relationships/notesSlide" Target="/ppt/notesSlides/notesSlide13.xml" Id="R63629e64421541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129120b1843e7" /><Relationship Type="http://schemas.openxmlformats.org/officeDocument/2006/relationships/image" Target="/ppt/media/image2.jpeg" Id="R1cf2dc53050948eb" /><Relationship Type="http://schemas.openxmlformats.org/officeDocument/2006/relationships/image" Target="/ppt/media/image3.jpeg" Id="Rb1aa448e06e64603" /><Relationship Type="http://schemas.openxmlformats.org/officeDocument/2006/relationships/notesSlide" Target="/ppt/notesSlides/notesSlide14.xml" Id="R0036f666d65144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1172255b54bb6" /><Relationship Type="http://schemas.openxmlformats.org/officeDocument/2006/relationships/notesSlide" Target="/ppt/notesSlides/notesSlide15.xml" Id="R518372e06fa446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5b0b32ab14b3e" /><Relationship Type="http://schemas.openxmlformats.org/officeDocument/2006/relationships/image" Target="/ppt/media/image4.jpeg" Id="Re84c14b44bfa4362" /><Relationship Type="http://schemas.openxmlformats.org/officeDocument/2006/relationships/notesSlide" Target="/ppt/notesSlides/notesSlide16.xml" Id="Rda2928101c7a4a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2a92fa56146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AB948-7913-4516-A529-0ED718F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0EAEA-E560-47C4-90F3-0852995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1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focus-ring-outer">
            <a:extLst xmlns:a="http://schemas.openxmlformats.org/drawingml/2006/main">
              <a:ext uri="{FF2B5EF4-FFF2-40B4-BE49-F238E27FC236}">
                <a16:creationId xmlns:a16="http://schemas.microsoft.com/office/drawing/2014/main" id="{0C516CA0-836F-4873-AA76-555526DC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42950"/>
            <a:ext cx="5372100" cy="537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>
              <a:alpha val="7059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focus-ring-inner">
            <a:extLst xmlns:a="http://schemas.openxmlformats.org/drawingml/2006/main">
              <a:ext uri="{FF2B5EF4-FFF2-40B4-BE49-F238E27FC236}">
                <a16:creationId xmlns:a16="http://schemas.microsoft.com/office/drawing/2014/main" id="{FC7160F9-8E29-4AA8-99BA-ECECC58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091" y="1871091"/>
            <a:ext cx="3115818" cy="3115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>
              <a:alpha val="6275"/>
            </a:srgbClr>
          </a:solidFill>
          <a:ln xmlns:a="http://schemas.openxmlformats.org/drawingml/2006/main" w="9525">
            <a:solidFill>
              <a:srgbClr val="F2B84B">
                <a:alpha val="4000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86f45d8454215"/>
          <a:stretch xmlns:a="http://schemas.openxmlformats.org/drawingml/2006/main"/>
        </p:blipFill>
        <p:spPr>
          <a:xfrm xmlns:a="http://schemas.openxmlformats.org/drawingml/2006/main">
            <a:off x="4557993" y="2343150"/>
            <a:ext cx="307601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0B966-800D-483E-A785-BBCCB00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647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Lovv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조건에서 찾는 소도시 여행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70F95-990B-4B39-ADCB-A141EA3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958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E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ECFF"/>
                </a:solidFill>
                <a:latin typeface="Aptos"/>
                <a:ea typeface="Aptos"/>
                <a:cs typeface="Aptos"/>
              </a:rPr>
              <a:t>Local · Vibe · Voyage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ECCA0-744D-4F98-9BFA-8B00C40A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2026.06.16 · 조동휘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FDD6-40DB-4021-B601-C423E0B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536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081BAB-23B1-4132-8C62-BB5CA9E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67261C-FC2C-4CA9-B8BF-1D0F088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45CCF-7B30-465D-9BB3-F52D86D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581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오버투어리즘은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수요 집중의 문제입니다</a:t>
            </a:r>
          </a:p>
        </p:txBody>
      </p:sp>
      <p:sp>
        <p:nvSpPr>
          <p:cNvPr id="4" name="focus-ring-outer">
            <a:extLst xmlns:a="http://schemas.openxmlformats.org/drawingml/2006/main">
              <a:ext uri="{FF2B5EF4-FFF2-40B4-BE49-F238E27FC236}">
                <a16:creationId xmlns:a16="http://schemas.microsoft.com/office/drawing/2014/main" id="{56AF3304-F319-4776-AB1D-378BE69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14400"/>
            <a:ext cx="5448300" cy="544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>
              <a:alpha val="7059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focus-ring-inner">
            <a:extLst xmlns:a="http://schemas.openxmlformats.org/drawingml/2006/main">
              <a:ext uri="{FF2B5EF4-FFF2-40B4-BE49-F238E27FC236}">
                <a16:creationId xmlns:a16="http://schemas.microsoft.com/office/drawing/2014/main" id="{9B49AA5F-81D7-4D93-91A5-BD0054A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93" y="2058543"/>
            <a:ext cx="3160014" cy="3160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>
              <a:alpha val="6275"/>
            </a:srgbClr>
          </a:solidFill>
          <a:ln xmlns:a="http://schemas.openxmlformats.org/drawingml/2006/main" w="9525">
            <a:solidFill>
              <a:srgbClr val="F2B84B">
                <a:alpha val="40000"/>
              </a:srgbClr>
            </a:solidFill>
            <a:prstDash val="solid"/>
          </a:ln>
        </p:spPr>
      </p:sp>
      <p:sp>
        <p:nvSpPr>
          <p:cNvPr id="6" name="central-focus-node">
            <a:extLst xmlns:a="http://schemas.openxmlformats.org/drawingml/2006/main">
              <a:ext uri="{FF2B5EF4-FFF2-40B4-BE49-F238E27FC236}">
                <a16:creationId xmlns:a16="http://schemas.microsoft.com/office/drawing/2014/main" id="{0BDAD694-A451-4011-9949-405DA34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438400" cy="243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2F5BFF">
                <a:alpha val="6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EB610-0BA0-4DEF-8738-4BB7B05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수요</a:t>
            </a:r>
          </a:p>
          <a:p xmlns:a="http://schemas.openxmlformats.org/drawingml/2006/main">
            <a:pPr algn="ctr">
              <a:buNone/>
              <a:def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집중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A21D3-6CBB-493F-8969-7C0887D7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26D5B">
                <a:alpha val="6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D1D4C-3184-48BE-B852-C10A8FA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6705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rPr>
              <a:t>주민 생활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26182-B852-401E-A4BC-49293945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59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E4A96-B09C-4B1B-A91C-2A8D085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7F3EA">
                <a:alpha val="6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5528D-10B7-45A5-9136-97E8B88D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435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환경 부담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E34D5-7D6A-442F-8142-94C8543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5305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394A-2409-4286-9E68-85304FDC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00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7F3EA">
                <a:alpha val="66667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20276-5DE0-4402-A831-B650AC0D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435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도시 기능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665D9-6A1A-4B46-9909-FFF2AC4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530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37DAD-0C60-402C-9C08-1E49F7F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26D5B">
                <a:alpha val="6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97F90-1094-4189-B327-CF1A618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rPr>
              <a:t>지역 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51654-49EC-40E7-90EC-D17CB31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B4C37-7217-40CC-8A24-87339B3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D8ECFF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48DED-1002-488E-A570-651E171F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정보 편중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0A5A4-8B2C-4B39-832A-EAC1CA1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95C7D-F2C5-4929-9B3D-566BAC2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959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6B6FF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8DDC9-B8EC-4432-8C37-7E4D6329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721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특정 관광지·시기에 수용 능력을 넘는 방문이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생활·환경·도시 기능·문화에 부담을 만듭니다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3067B-1147-4C23-AE7E-1EB23C2A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problem axes revision; external evidence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BDAFE-D728-4948-A410-02C8E01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884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86FD34-6989-4A81-BA40-A314489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C7B32F-6694-4BC5-A0E5-E69E50B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60C9-4E0F-4BDD-805F-72A6B6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쏠림은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네 가지 비용을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86C-FE12-4BC7-ACE1-7F868E4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7DD7-88F0-4486-830D-98E0B79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d59038ae14f45"/>
          <a:srcRect xmlns:a="http://schemas.openxmlformats.org/drawingml/2006/main" l="7509" t="0" r="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3D06-D8B2-4619-8A71-C3038CD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578b2ec764569"/>
          <a:srcRect xmlns:a="http://schemas.openxmlformats.org/drawingml/2006/main" l="7389" t="0" r="7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D7E-A1C3-49B6-9C32-74F9634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74FC-4CAB-49C7-8080-517478A3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생활 비용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344F9-4C30-4455-B6B0-5658E55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북촌: 주거지와 관광지가 겹치며 주민 불편이 커짐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7B61-2128-44CF-BFB2-2D8F4E3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환경 비용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934DD-346C-4978-9180-443AF56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제주: 방문객 증가가 폐기물·처리 부담으로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A45B-47C4-4DBE-9962-200321C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784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9F09-4083-45C5-A05E-5520274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181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수요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불균형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6152-B860-4712-8E5E-8A87A37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083BB-8A9E-4D54-B51D-9A3CE37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1B9-5D41-4484-B952-79A0D38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도시 비용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DE795-F831-420B-8AF9-5165D00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문화 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04A6-156F-435B-9582-2708260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s3_problem_axes_revision.md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DB852-038D-4798-A149-7C114DD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4308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BD82BC-A972-4EE8-9E16-4D314A9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83C2E7-3B99-4EF1-BF51-9D1751A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0D2F-6460-4241-B1BD-0B18F48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시장은 이미 한국과 일본에서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함께 움직입니다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8EE8-A531-477B-BEF1-AE2C80B7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62150"/>
            <a:ext cx="4267200" cy="426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>
              <a:alpha val="9412"/>
            </a:srgbClr>
          </a:solidFill>
          <a:ln xmlns:a="http://schemas.openxmlformats.org/drawingml/2006/main" w="9525">
            <a:solidFill>
              <a:srgbClr val="F2B84B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6DCD4-569E-4168-8379-7A5B5F3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333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D074-430F-4F40-8DFF-FE8C77D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양방향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559D9-6980-41D3-8B7B-7654DA5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구마모토 예약 증가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라쿠텐,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9AF7-47B2-4B49-B330-6D5334E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56B6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56B6FF"/>
                </a:solidFill>
                <a:latin typeface="Aptos Display"/>
                <a:ea typeface="Aptos Display"/>
                <a:cs typeface="Aptos Display"/>
              </a:rPr>
              <a:t>반복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7CA5-FD65-4614-B169-D581BDE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한국 소도시 언급 증가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썸트렌드·한국경제,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FA78-03F6-4718-960A-449CAA2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26D5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26D5B"/>
                </a:solidFill>
                <a:latin typeface="Aptos Display"/>
                <a:ea typeface="Aptos Display"/>
                <a:cs typeface="Aptos Display"/>
              </a:rPr>
              <a:t>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D1186-8AD6-4A02-A8A6-084F448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사가현 숙박 거래액 증가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이투데이/여기어때,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49565-1C62-460C-9850-A0FCB171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100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9D7C1-417C-40BF-B3A0-45B881C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4D4C-89A7-4768-AA3A-5ADD33A8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9595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첫 타깃은 무작위 해외여행이 아니라 한일 양방향 소도시 여행입니다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75C10-83B9-4536-B108-02C29A65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external_evidence_slides_2articles.md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ADFE1-8C1C-48F0-9014-314C3853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4742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081BAB-23B1-4132-8C62-BB5CA9E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67261C-FC2C-4CA9-B8BF-1D0F088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45CCF-7B30-465D-9BB3-F52D86D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581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조건만 말하면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소도시부터 일정까지</a:t>
            </a:r>
          </a:p>
        </p:txBody>
      </p:sp>
      <p:sp>
        <p:nvSpPr>
          <p:cNvPr id="4" name="focus-ring-outer">
            <a:extLst xmlns:a="http://schemas.openxmlformats.org/drawingml/2006/main">
              <a:ext uri="{FF2B5EF4-FFF2-40B4-BE49-F238E27FC236}">
                <a16:creationId xmlns:a16="http://schemas.microsoft.com/office/drawing/2014/main" id="{56AF3304-F319-4776-AB1D-378BE69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14400"/>
            <a:ext cx="5448300" cy="544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FF">
              <a:alpha val="7059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focus-ring-inner">
            <a:extLst xmlns:a="http://schemas.openxmlformats.org/drawingml/2006/main">
              <a:ext uri="{FF2B5EF4-FFF2-40B4-BE49-F238E27FC236}">
                <a16:creationId xmlns:a16="http://schemas.microsoft.com/office/drawing/2014/main" id="{9B49AA5F-81D7-4D93-91A5-BD0054A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93" y="2058543"/>
            <a:ext cx="3160014" cy="3160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>
              <a:alpha val="6275"/>
            </a:srgbClr>
          </a:solidFill>
          <a:ln xmlns:a="http://schemas.openxmlformats.org/drawingml/2006/main" w="9525">
            <a:solidFill>
              <a:srgbClr val="F2B84B">
                <a:alpha val="40000"/>
              </a:srgbClr>
            </a:solidFill>
            <a:prstDash val="solid"/>
          </a:ln>
        </p:spPr>
      </p:sp>
      <p:sp>
        <p:nvSpPr>
          <p:cNvPr id="6" name="central-focus-node">
            <a:extLst xmlns:a="http://schemas.openxmlformats.org/drawingml/2006/main">
              <a:ext uri="{FF2B5EF4-FFF2-40B4-BE49-F238E27FC236}">
                <a16:creationId xmlns:a16="http://schemas.microsoft.com/office/drawing/2014/main" id="{0BDAD694-A451-4011-9949-405DA34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438400" cy="243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9050">
            <a:solidFill>
              <a:srgbClr val="2F5BFF">
                <a:alpha val="6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EB610-0BA0-4DEF-8738-4BB7B05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75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</a:p>
          <a:p xmlns:a="http://schemas.openxmlformats.org/drawingml/2006/main">
            <a:pPr algn="ctr">
              <a:buNone/>
              <a:def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A21D3-6CBB-493F-8969-7C0887D7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26D5B">
                <a:alpha val="6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D1D4C-3184-48BE-B852-C10A8FA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6705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rPr>
              <a:t>못 찾음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26182-B852-401E-A4BC-49293945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59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E4A96-B09C-4B1B-A91C-2A8D085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7F3EA">
                <a:alpha val="6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5528D-10B7-45A5-9136-97E8B88D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435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흩어짐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E34D5-7D6A-442F-8142-94C8543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5305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394A-2409-4286-9E68-85304FDC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00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7F3EA">
                <a:alpha val="66667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20276-5DE0-4402-A831-B650AC0D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435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못 믿음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665D9-6A1A-4B46-9909-FFF2AC4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530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37DAD-0C60-402C-9C08-1E49F7F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F26D5B">
                <a:alpha val="6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97F90-1094-4189-B327-CF1A618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26D5B"/>
                </a:solidFill>
                <a:latin typeface="Apple SD Gothic Neo"/>
                <a:ea typeface="Apple SD Gothic Neo"/>
                <a:cs typeface="Apple SD Gothic Neo"/>
              </a:rPr>
              <a:t>일정 공백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51654-49EC-40E7-90EC-D17CB31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B4C37-7217-40CC-8A24-87339B3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0196"/>
            </a:srgbClr>
          </a:solidFill>
          <a:ln xmlns:a="http://schemas.openxmlformats.org/drawingml/2006/main" w="9525">
            <a:solidFill>
              <a:srgbClr val="D8ECFF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48DED-1002-488E-A570-651E171F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실행 부족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0A5A4-8B2C-4B39-832A-EAC1CA1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95C7D-F2C5-4929-9B3D-566BAC2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959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6B6FF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8DDC9-B8EC-4432-8C37-7E4D6329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721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국가·시기·취향을 소도시 후보, 근거, 일정으로 연결합니다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3067B-1147-4C23-AE7E-1EB23C2A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current pages/05_core_concepts.md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BDAFE-D728-4948-A410-02C8E01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884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20708-FDA2-4D0F-A311-0EC4777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0F54E9-FA95-4AB4-9895-1F2C8DD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1E49-348A-4CA7-9F8F-AAEA836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입력부터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근거 있는 일정까지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01D49-9DFF-47FD-A47C-6D11E2A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EF24-A874-4B90-B9E7-1BE0069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사용자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D130-C43B-467D-A720-E786032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국가·월·관심사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4DD0-4F08-4ECC-9FC0-65C14D8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6A90-D8B9-490F-BED0-6A4328B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6275"/>
            </a:srgbClr>
          </a:solidFill>
          <a:ln xmlns:a="http://schemas.openxmlformats.org/drawingml/2006/main" w="9525">
            <a:solidFill>
              <a:srgbClr val="2F5BF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79F3-3A77-49D9-BCEF-F786BBF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DFBAF-B4C1-4B1C-9BCB-FBDC72B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6EF2-F943-4D62-9B1C-09F4CB4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조건 분석·검색·선정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33C66-017C-4C32-A162-C08BBCAF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B50-7C9C-4A01-BA41-C09DB79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71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AD07A-D80F-43F3-8301-45473D2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추천·일정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1086-3B83-49C7-A15D-66A944C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근거·동선·지도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B0B88-192B-4883-9BCD-47D578C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674D-E571-455D-8706-32278A6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EE472-B2D7-42AF-985B-8DD1EFC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99B07-98B0-40E4-86B9-EF7A986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BDC8-915E-4FBB-80D8-A00C119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E7282-4551-46BA-879E-349AD63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5E087-4F49-4773-8CDE-3D3BF72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1B7D-7CF0-439B-9353-D5856E0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Ranker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456DD-5B8B-47B3-826C-302DDC3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22911-4E7B-4B46-90DA-6CF0D00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82588-C85C-4E68-AD8D-D0BA446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pages/06_system_flow.md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E8C5B-D2DF-4BF9-B2B9-2354C52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1524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6a538aad54c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F425E-EAF4-47AA-A041-F02C76E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7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185E43-F889-4110-A791-FEECF50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D36915-5E08-4507-BEC9-75759CF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03433-10F1-4C8B-AA61-26D18B4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62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사용자는 도시가 아니라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조건에서 시작합니다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229B-6CCE-475E-84EE-B9A4F38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4B1E8-1D02-46EF-8900-914FF6C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1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E84E2-B307-4420-B0C4-79C606D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국가·월·관심사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0E543-03D5-4A5A-A502-CE0D02F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304E3-0D04-40F5-B5B7-B03178F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9412"/>
            </a:srgbClr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FAD70-584F-465A-B111-B5DA1F0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2 후보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01883-68B6-4C8B-99D8-BAD2326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소도시·축제·테마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75177-FF74-4D58-BE7B-6B83C01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203F-E34C-438B-B4CD-6DA4EF3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6E40A-8486-4FF8-9F13-C45101C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3 일정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6B767-C6B2-48B1-92A3-345597C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근거 확인 뒤 동선·지도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E568C-B1FD-4AD2-B004-C1CD187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579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목적지 검색이 아니라 조건 기반 발견 흐름입니다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0BB66-018B-489F-9ACD-E38C8A5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pages/07_user_flow.md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E0794-66A2-466A-A77D-6ADA79C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1516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20708-FDA2-4D0F-A311-0EC4777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0F54E9-FA95-4AB4-9895-1F2C8DD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1E49-348A-4CA7-9F8F-AAEA836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단일 답변이 아니라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책임을 나눠 처리합니다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01D49-9DFF-47FD-A47C-6D11E2A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EF24-A874-4B90-B9E7-1BE0069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조건 구조화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D130-C43B-467D-A720-E786032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모호한 입력을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4DD0-4F08-4ECC-9FC0-65C14D8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6A90-D8B9-490F-BED0-6A4328B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6275"/>
            </a:srgbClr>
          </a:solidFill>
          <a:ln xmlns:a="http://schemas.openxmlformats.org/drawingml/2006/main" w="9525">
            <a:solidFill>
              <a:srgbClr val="2F5BF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79F3-3A77-49D9-BCEF-F786BBF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DFBAF-B4C1-4B1C-9BCB-FBDC72B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Multi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6EF2-F943-4D62-9B1C-09F4CB4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검색·선정·일정 생성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33C66-017C-4C32-A162-C08BBCAF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B50-7C9C-4A01-BA41-C09DB79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71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AD07A-D80F-43F3-8301-45473D2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1086-3B83-49C7-A15D-66A944C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근거 포함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B0B88-192B-4883-9BCD-47D578C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674D-E571-455D-8706-32278A6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EE472-B2D7-42AF-985B-8DD1EFC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99B07-98B0-40E4-86B9-EF7A986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Retriever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BDC8-915E-4FBB-80D8-A00C119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E7282-4551-46BA-879E-349AD63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5E087-4F49-4773-8CDE-3D3BF72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1B7D-7CF0-439B-9353-D5856E0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Ranker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456DD-5B8B-47B3-826C-302DDC3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22911-4E7B-4B46-90DA-6CF0D00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82588-C85C-4E68-AD8D-D0BA446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pages/08_agent_flow.md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E8C5B-D2DF-4BF9-B2B9-2354C52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1524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20708-FDA2-4D0F-A311-0EC4777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0F54E9-FA95-4AB4-9895-1F2C8DD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1E49-348A-4CA7-9F8F-AAEA836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추천은 생성이 아니라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근거 패키지에서 시작합니다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01D49-9DFF-47FD-A47C-6D11E2A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EF24-A874-4B90-B9E7-1BE0069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데이터 조각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D130-C43B-467D-A720-E786032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도시·축제·날씨·장소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4DD0-4F08-4ECC-9FC0-65C14D8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6A90-D8B9-490F-BED0-6A4328B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6275"/>
            </a:srgbClr>
          </a:solidFill>
          <a:ln xmlns:a="http://schemas.openxmlformats.org/drawingml/2006/main" w="9525">
            <a:solidFill>
              <a:srgbClr val="2F5BF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79F3-3A77-49D9-BCEF-F786BBF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DFBAF-B4C1-4B1C-9BCB-FBDC72B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6EF2-F943-4D62-9B1C-09F4CB4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Planner가 쓸 수 있는 후보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33C66-017C-4C32-A162-C08BBCAF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B50-7C9C-4A01-BA41-C09DB79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71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AD07A-D80F-43F3-8301-45473D2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추천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1086-3B83-49C7-A15D-66A944C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출처 포함 일정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B0B88-192B-4883-9BCD-47D578C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674D-E571-455D-8706-32278A6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EE472-B2D7-42AF-985B-8DD1EFC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99B07-98B0-40E4-86B9-EF7A986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BDC8-915E-4FBB-80D8-A00C119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E7282-4551-46BA-879E-349AD63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Grounding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5E087-4F49-4773-8CDE-3D3BF72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1B7D-7CF0-439B-9353-D5856E0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456DD-5B8B-47B3-826C-302DDC3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22911-4E7B-4B46-90DA-6CF0D00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82588-C85C-4E68-AD8D-D0BA446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agent deep dive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E8C5B-D2DF-4BF9-B2B9-2354C52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1524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20708-FDA2-4D0F-A311-0EC4777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0F54E9-FA95-4AB4-9895-1F2C8DD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RANKER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1E49-348A-4CA7-9F8F-AAEA836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좋아 보이는 후보가 아니라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기준에 맞는 후보를 고릅니다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01D49-9DFF-47FD-A47C-6D11E2A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EF24-A874-4B90-B9E7-1BE0069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후보 A/B/C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D130-C43B-467D-A720-E786032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검색 결과를 그대로 노출하지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4DD0-4F08-4ECC-9FC0-65C14D8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86A90-D8B9-490F-BED0-6A4328B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6275"/>
            </a:srgbClr>
          </a:solidFill>
          <a:ln xmlns:a="http://schemas.openxmlformats.org/drawingml/2006/main" w="9525">
            <a:solidFill>
              <a:srgbClr val="2F5BF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79F3-3A77-49D9-BCEF-F786BBF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DFBAF-B4C1-4B1C-9BCB-FBDC72B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Scoring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Criteria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6EF2-F943-4D62-9B1C-09F4CB4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계절성·테마·실행성·근거 품질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33C66-017C-4C32-A162-C08BBCAF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B50-7C9C-4A01-BA41-C09DB79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71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>
              <a:alpha val="86667"/>
            </a:srgbClr>
          </a:solidFill>
          <a:ln xmlns:a="http://schemas.openxmlformats.org/drawingml/2006/main" w="9525">
            <a:solidFill>
              <a:srgbClr val="56B6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AD07A-D80F-43F3-8301-45473D2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최종 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1086-3B83-49C7-A15D-66A944C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선정 이유와 reserve 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B0B88-192B-4883-9BCD-47D578C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674D-E571-455D-8706-32278A6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Season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EE472-B2D7-42AF-985B-8DD1EFC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99B07-98B0-40E4-86B9-EF7A986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Theme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BDC8-915E-4FBB-80D8-A00C119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E7282-4551-46BA-879E-349AD63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5E087-4F49-4773-8CDE-3D3BF72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1B7D-7CF0-439B-9353-D5856E0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456DD-5B8B-47B3-826C-302DDC3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5F7773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22911-4E7B-4B46-90DA-6CF0D00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82588-C85C-4E68-AD8D-D0BA446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pages/10_ranker_deep_dive.md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E8C5B-D2DF-4BF9-B2B9-2354C52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1524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86FD34-6989-4A81-BA40-A314489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C7B32F-6694-4BC5-A0E5-E69E50B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60C9-4E0F-4BDD-805F-72A6B6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데이터는 추천 판단 단위로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정리합니다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86C-FE12-4BC7-ACE1-7F868E4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7DD7-88F0-4486-830D-98E0B79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e2df99a7a4a28"/>
          <a:srcRect xmlns:a="http://schemas.openxmlformats.org/drawingml/2006/main" l="7509" t="0" r="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3D06-D8B2-4619-8A71-C3038CD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6587d474cd7"/>
          <a:srcRect xmlns:a="http://schemas.openxmlformats.org/drawingml/2006/main" l="7389" t="0" r="7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D7E-A1C3-49B6-9C32-74F9634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74FC-4CAB-49C7-8080-517478A3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도시·지역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344F9-4C30-4455-B6B0-5658E55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소도시 후보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7B61-2128-44CF-BFB2-2D8F4E3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축제·날씨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934DD-346C-4978-9180-443AF56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여행 월과 계절성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A45B-47C4-4DBE-9962-200321C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784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9F09-4083-45C5-A05E-5520274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181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수요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불균형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6152-B860-4712-8E5E-8A87A37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083BB-8A9E-4D54-B51D-9A3CE37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1B9-5D41-4484-B952-79A0D38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관광지·지도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DE795-F831-420B-8AF9-5165D00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일정 실행성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04A6-156F-435B-9582-2708260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pages/11_data.md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DB852-038D-4798-A149-7C114DD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4308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62319b7bf40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F425E-EAF4-47AA-A041-F02C76E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7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185E43-F889-4110-A791-FEECF50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D36915-5E08-4507-BEC9-75759CF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03433-10F1-4C8B-AA61-26D18B4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62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조건 입력에서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근거 있는 일정까지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229B-6CCE-475E-84EE-B9A4F38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4B1E8-1D02-46EF-8900-914FF6C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1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E84E2-B307-4420-B0C4-79C606D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국가·시기·취향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0E543-03D5-4A5A-A502-CE0D02F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304E3-0D04-40F5-B5B7-B03178F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9412"/>
            </a:srgbClr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FAD70-584F-465A-B111-B5DA1F0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2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01883-68B6-4C8B-99D8-BAD2326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소도시 후보·추천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75177-FF74-4D58-BE7B-6B83C01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203F-E34C-438B-B4CD-6DA4EF3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6E40A-8486-4FF8-9F13-C45101C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3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6B767-C6B2-48B1-92A3-345597C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일정·지도·상세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E568C-B1FD-4AD2-B004-C1CD187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579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데모에서는 결과보다 왜 추천됐는지가 보이는 장면을 강조합니다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0BB66-018B-489F-9ACD-E38C8A5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pages/12_demo.md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E0794-66A2-466A-A77D-6ADA79C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5164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86FD34-6989-4A81-BA40-A314489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C7B32F-6694-4BC5-A0E5-E69E50B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60C9-4E0F-4BDD-805F-72A6B6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그래프DB는 필요한 순간에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도입합니다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86C-FE12-4BC7-ACE1-7F868E4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7DD7-88F0-4486-830D-98E0B79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65f0f61124223"/>
          <a:srcRect xmlns:a="http://schemas.openxmlformats.org/drawingml/2006/main" l="7509" t="0" r="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3D06-D8B2-4619-8A71-C3038CD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13b83f793429e"/>
          <a:srcRect xmlns:a="http://schemas.openxmlformats.org/drawingml/2006/main" l="7389" t="0" r="7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D7E-A1C3-49B6-9C32-74F9634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74FC-4CAB-49C7-8080-517478A3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Neptune 후보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344F9-4C30-4455-B6B0-5658E55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다중 관계·경로 탐색에 강점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7B61-2128-44CF-BFB2-2D8F4E3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현재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934DD-346C-4978-9180-443AF56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RAG + scoring + audit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A45B-47C4-4DBE-9962-200321C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784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9F09-4083-45C5-A05E-5520274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181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수요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불균형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6152-B860-4712-8E5E-8A87A37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083BB-8A9E-4D54-B51D-9A3CE37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1B9-5D41-4484-B952-79A0D38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어려움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DE795-F831-420B-8AF9-5165D00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관계 탐색보다 근거 품질이 우선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04A6-156F-435B-9582-2708260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pages/13_neptune_troubleshooting.md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DB852-038D-4798-A149-7C114DD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4308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86FD34-6989-4A81-BA40-A314489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C7B32F-6694-4BC5-A0E5-E69E50B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60C9-4E0F-4BDD-805F-72A6B6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트리플은 정한 도시를 짜고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Lovv는 어디 갈지부터 찾습니다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86C-FE12-4BC7-ACE1-7F868E4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7DD7-88F0-4486-830D-98E0B79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2dc53050948eb"/>
          <a:srcRect xmlns:a="http://schemas.openxmlformats.org/drawingml/2006/main" l="7509" t="0" r="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3D06-D8B2-4619-8A71-C3038CD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a448e06e64603"/>
          <a:srcRect xmlns:a="http://schemas.openxmlformats.org/drawingml/2006/main" l="7389" t="0" r="7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D7E-A1C3-49B6-9C32-74F9634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86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74FC-4CAB-49C7-8080-517478A3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트리플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344F9-4C30-4455-B6B0-5658E55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도시를 정한 뒤 일정·예약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7B61-2128-44CF-BFB2-2D8F4E3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ECFF"/>
                </a:solidFill>
                <a:latin typeface="Apple SD Gothic Neo"/>
                <a:ea typeface="Apple SD Gothic Neo"/>
                <a:cs typeface="Apple SD Gothic Neo"/>
              </a:rPr>
              <a:t>Lovv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934DD-346C-4978-9180-443AF56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국가·시기·취향에서 소도시 발견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A45B-47C4-4DBE-9962-200321C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784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9F09-4083-45C5-A05E-5520274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181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수요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불균형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6152-B860-4712-8E5E-8A87A37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083BB-8A9E-4D54-B51D-9A3CE37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337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1B9-5D41-4484-B952-79A0D38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근거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DE795-F831-420B-8AF9-5165D00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파트너 확장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04A6-156F-435B-9582-2708260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lovv_vs_triple.md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DB852-038D-4798-A149-7C114DD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43082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BD82BC-A972-4EE8-9E16-4D314A9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83C2E7-3B99-4EF1-BF51-9D1751A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0D2F-6460-4241-B1BD-0B18F48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시장은 이미 한국과 일본에서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함께 움직입니다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8EE8-A531-477B-BEF1-AE2C80B7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62150"/>
            <a:ext cx="4267200" cy="426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>
              <a:alpha val="9412"/>
            </a:srgbClr>
          </a:solidFill>
          <a:ln xmlns:a="http://schemas.openxmlformats.org/drawingml/2006/main" w="9525">
            <a:solidFill>
              <a:srgbClr val="F2B84B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6DCD4-569E-4168-8379-7A5B5F3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241">
              <a:alpha val="93333"/>
            </a:srgbClr>
          </a:solidFill>
          <a:ln xmlns:a="http://schemas.openxmlformats.org/drawingml/2006/main" w="19050">
            <a:solidFill>
              <a:srgbClr val="2F5BFF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D074-430F-4F40-8DFF-FE8C77D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B2C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559D9-6980-41D3-8B7B-7654DA5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개인 맞춤 소도시 추천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9AF7-47B2-4B49-B330-6D5334E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56B6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56B6FF"/>
                </a:solidFill>
                <a:latin typeface="Aptos Display"/>
                <a:ea typeface="Aptos Display"/>
                <a:cs typeface="Aptos Display"/>
              </a:rPr>
              <a:t>제휴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7CA5-FD65-4614-B169-D581BDE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숙박·교통·액티비티 딥링크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FA78-03F6-4718-960A-449CAA2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26D5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26D5B"/>
                </a:solidFill>
                <a:latin typeface="Aptos Display"/>
                <a:ea typeface="Aptos Display"/>
                <a:cs typeface="Aptos Display"/>
              </a:rPr>
              <a:t>B2G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D1186-8AD6-4A02-A8A6-084F448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지자체 관광 홍보·분산 지원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49565-1C62-460C-9850-A0FCB171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100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9D7C1-417C-40BF-B3A0-45B881C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6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4D4C-89A7-4768-AA3A-5ADD33A8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9595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PoC 이후 클릭률, 전환율, 방문객 분산 효과를 검증합니다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75C10-83B9-4536-B108-02C29A65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pages/15_business_model.md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ADFE1-8C1C-48F0-9014-314C3853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47427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c14b44bfa43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F425E-EAF4-47AA-A041-F02C76E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>
              <a:alpha val="7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185E43-F889-4110-A791-FEECF50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D36915-5E08-4507-BEC9-75759CF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03433-10F1-4C8B-AA61-26D18B4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762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PoC에서 Production으로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확장할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229B-6CCE-475E-84EE-B9A4F38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4B1E8-1D02-46EF-8900-914FF6C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2B84B"/>
                </a:solidFill>
                <a:latin typeface="Apple SD Gothic Neo"/>
                <a:ea typeface="Apple SD Gothic Neo"/>
                <a:cs typeface="Apple SD Gothic Neo"/>
              </a:rPr>
              <a:t>1주차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E84E2-B307-4420-B0C4-79C606D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문제 정의·타깃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0E543-03D5-4A5A-A502-CE0D02F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304E3-0D04-40F5-B5B7-B03178F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>
              <a:alpha val="9412"/>
            </a:srgbClr>
          </a:solidFill>
          <a:ln xmlns:a="http://schemas.openxmlformats.org/drawingml/2006/main" w="19050">
            <a:solidFill>
              <a:srgbClr val="2F5BFF">
                <a:alpha val="8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FAD70-584F-465A-B111-B5DA1F0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2-4주차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01883-68B6-4C8B-99D8-BAD2326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BFF"/>
                </a:solidFill>
                <a:latin typeface="Apple SD Gothic Neo"/>
                <a:ea typeface="Apple SD Gothic Neo"/>
                <a:cs typeface="Apple SD Gothic Neo"/>
              </a:rPr>
              <a:t>데이터·에이전트·PoC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75177-FF74-4D58-BE7B-6B83C01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0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203F-E34C-438B-B4CD-6DA4EF3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9525">
            <a:solidFill>
              <a:srgbClr val="2F5B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6E40A-8486-4FF8-9F13-C45101C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5BFF"/>
                </a:solidFill>
                <a:latin typeface="Aptos Display"/>
                <a:ea typeface="Aptos Display"/>
                <a:cs typeface="Aptos Display"/>
              </a:rPr>
              <a:t>Final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6B767-C6B2-48B1-92A3-345597C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데이터 확장·품질 평가·파트너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E568C-B1FD-4AD2-B004-C1CD187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579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4303A"/>
                </a:solidFill>
                <a:latin typeface="Apple SD Gothic Neo"/>
                <a:ea typeface="Apple SD Gothic Neo"/>
                <a:cs typeface="Apple SD Gothic Neo"/>
              </a:rPr>
              <a:t>확장 방향, 출처, Q&amp;A로 마무리합니다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0BB66-018B-489F-9ACD-E38C8A5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>
                    <a:alpha val="53333"/>
                  </a:srgbClr>
                </a:solidFill>
                <a:latin typeface="Aptos"/>
                <a:ea typeface="Aptos"/>
                <a:cs typeface="Aptos"/>
              </a:rPr>
              <a:t>Source: pages/16_expansion_tasks.md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E0794-66A2-466A-A77D-6ADA79C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>
                    <a:alpha val="66667"/>
                  </a:srgbClr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1516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2026-06-13T06:09:07.2900000Z</dcterms:created>
  <dcterms:modified xsi:type="dcterms:W3CDTF">2026-06-13T06:09:07.2900000Z</dcterms:modified>
</coreProperties>
</file>