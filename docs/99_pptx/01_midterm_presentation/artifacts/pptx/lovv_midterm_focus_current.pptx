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6da06fdbe1a140bc" Type="http://schemas.openxmlformats.org/officeDocument/2006/relationships/officeDocument" Target="ppt/presentation.xml"/><Relationship Id="R7b32cfa22b8a4ad2" Type="http://schemas.openxmlformats.org/officeDocument/2006/relationships/extended-properties" Target="docProps/app.xml"/><Relationship Id="R7f32ccb5cc69471b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7364b011274d26"/>
  </p:sldMasterIdLst>
  <p:notesMasterIdLst>
    <p:notesMasterId xmlns:r="http://schemas.openxmlformats.org/officeDocument/2006/relationships" r:id="R3958d4d05a894a9e"/>
  </p:notesMasterIdLst>
  <p:sldIdLst>
    <p:sldId xmlns:r="http://schemas.openxmlformats.org/officeDocument/2006/relationships" id="256" r:id="R6bd860ffa47f47d9"/>
    <p:sldId xmlns:r="http://schemas.openxmlformats.org/officeDocument/2006/relationships" id="257" r:id="R8972cfb6ec7b4012"/>
    <p:sldId xmlns:r="http://schemas.openxmlformats.org/officeDocument/2006/relationships" id="258" r:id="R4549454dc46e40d8"/>
    <p:sldId xmlns:r="http://schemas.openxmlformats.org/officeDocument/2006/relationships" id="259" r:id="R9c7b74589af848d5"/>
    <p:sldId xmlns:r="http://schemas.openxmlformats.org/officeDocument/2006/relationships" id="260" r:id="Rb570c00d7c1345fe"/>
    <p:sldId xmlns:r="http://schemas.openxmlformats.org/officeDocument/2006/relationships" id="261" r:id="Rcc1b139f075848b8"/>
    <p:sldId xmlns:r="http://schemas.openxmlformats.org/officeDocument/2006/relationships" id="262" r:id="R0170f2f6ffc74174"/>
    <p:sldId xmlns:r="http://schemas.openxmlformats.org/officeDocument/2006/relationships" id="263" r:id="R2594dcd85a3f4262"/>
    <p:sldId xmlns:r="http://schemas.openxmlformats.org/officeDocument/2006/relationships" id="264" r:id="R7597d3baa5594bba"/>
    <p:sldId xmlns:r="http://schemas.openxmlformats.org/officeDocument/2006/relationships" id="265" r:id="Rc1a15cfb423a44eb"/>
    <p:sldId xmlns:r="http://schemas.openxmlformats.org/officeDocument/2006/relationships" id="266" r:id="Rcfbaa02bcc9d432a"/>
    <p:sldId xmlns:r="http://schemas.openxmlformats.org/officeDocument/2006/relationships" id="267" r:id="Rbd70f68bb1dc456d"/>
    <p:sldId xmlns:r="http://schemas.openxmlformats.org/officeDocument/2006/relationships" id="268" r:id="R44ee0e86ed794e3f"/>
    <p:sldId xmlns:r="http://schemas.openxmlformats.org/officeDocument/2006/relationships" id="269" r:id="R9887d6f00eb9467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0a8755677904b24" Type="http://schemas.openxmlformats.org/officeDocument/2006/relationships/presProps" Target="presProps.xml"/><Relationship Id="R0170f2f6ffc74174" Type="http://schemas.openxmlformats.org/officeDocument/2006/relationships/slide" Target="slides/slide7.xml"/><Relationship Id="R2594dcd85a3f4262" Type="http://schemas.openxmlformats.org/officeDocument/2006/relationships/slide" Target="slides/slide8.xml"/><Relationship Id="R3958d4d05a894a9e" Type="http://schemas.openxmlformats.org/officeDocument/2006/relationships/notesMaster" Target="notesMasters/notesMaster1.xml"/><Relationship Id="R3e7364b011274d26" Type="http://schemas.openxmlformats.org/officeDocument/2006/relationships/slideMaster" Target="slideMasters/slideMaster1.xml"/><Relationship Id="R44ee0e86ed794e3f" Type="http://schemas.openxmlformats.org/officeDocument/2006/relationships/slide" Target="slides/slide13.xml"/><Relationship Id="R4549454dc46e40d8" Type="http://schemas.openxmlformats.org/officeDocument/2006/relationships/slide" Target="slides/slide3.xml"/><Relationship Id="R6bd860ffa47f47d9" Type="http://schemas.openxmlformats.org/officeDocument/2006/relationships/slide" Target="slides/slide1.xml"/><Relationship Id="R7597d3baa5594bba" Type="http://schemas.openxmlformats.org/officeDocument/2006/relationships/slide" Target="slides/slide9.xml"/><Relationship Id="R8972cfb6ec7b4012" Type="http://schemas.openxmlformats.org/officeDocument/2006/relationships/slide" Target="slides/slide2.xml"/><Relationship Id="R9887d6f00eb94675" Type="http://schemas.openxmlformats.org/officeDocument/2006/relationships/slide" Target="slides/slide14.xml"/><Relationship Id="R9c7b74589af848d5" Type="http://schemas.openxmlformats.org/officeDocument/2006/relationships/slide" Target="slides/slide4.xml"/><Relationship Id="R9d9f6405d7cd460d" Type="http://schemas.openxmlformats.org/officeDocument/2006/relationships/tableStyles" Target="tableStyles.xml"/><Relationship Id="Rb570c00d7c1345fe" Type="http://schemas.openxmlformats.org/officeDocument/2006/relationships/slide" Target="slides/slide5.xml"/><Relationship Id="Rbd70f68bb1dc456d" Type="http://schemas.openxmlformats.org/officeDocument/2006/relationships/slide" Target="slides/slide12.xml"/><Relationship Id="Rc1a15cfb423a44eb" Type="http://schemas.openxmlformats.org/officeDocument/2006/relationships/slide" Target="slides/slide10.xml"/><Relationship Id="Rcc1b139f075848b8" Type="http://schemas.openxmlformats.org/officeDocument/2006/relationships/slide" Target="slides/slide6.xml"/><Relationship Id="Rcfbaa02bcc9d432a" Type="http://schemas.openxmlformats.org/officeDocument/2006/relationships/slide" Target="slides/slide11.xml"/><Relationship Id="Re7c1ef0b66a44a51" Type="http://schemas.openxmlformats.org/officeDocument/2006/relationships/theme" Target="theme/theme1.xml"/></Relationships>
</file>

<file path=ppt/notesMasters/_rels/notesMaster1.xml.rels><?xml version='1.0' encoding='UTF-8' standalone='yes'?>
<Relationships xmlns="http://schemas.openxmlformats.org/package/2006/relationships"><Relationship Id="R872fd11d618b488a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218edfde790d44a8" Type="http://schemas.openxmlformats.org/officeDocument/2006/relationships/notesMaster" Target="../notesMasters/notesMaster1.xml"/><Relationship Id="R9057688bb5df4728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c12a47002b4e473f" Type="http://schemas.openxmlformats.org/officeDocument/2006/relationships/notesMaster" Target="../notesMasters/notesMaster1.xml"/><Relationship Id="Rf2a4aed6f2c44e54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24e6b7bf1724803" Type="http://schemas.openxmlformats.org/officeDocument/2006/relationships/slide" Target="../slides/slide3.xml"/><Relationship Id="R8133ee9c2042484a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16f3e863b3e4600" Type="http://schemas.openxmlformats.org/officeDocument/2006/relationships/slide" Target="../slides/slide4.xml"/><Relationship Id="Rc168db89f26a4b9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326d18124b8c4493" Type="http://schemas.openxmlformats.org/officeDocument/2006/relationships/notesMaster" Target="../notesMasters/notesMaster1.xml"/><Relationship Id="R79a2f6740d844c8e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9b162209764418e" Type="http://schemas.openxmlformats.org/officeDocument/2006/relationships/notesMaster" Target="../notesMasters/notesMaster1.xml"/><Relationship Id="R9831cae7f65446b6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1de41e0f0e584cdf" Type="http://schemas.openxmlformats.org/officeDocument/2006/relationships/slide" Target="../slides/slide7.xml"/><Relationship Id="Rb97f880cdfa14af7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17d8ddd1510e4c8d" Type="http://schemas.openxmlformats.org/officeDocument/2006/relationships/notesMaster" Target="../notesMasters/notesMaster1.xml"/><Relationship Id="Rc8c5dc5560b749a3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88b123af5b2c473c" Type="http://schemas.openxmlformats.org/officeDocument/2006/relationships/slide" Target="../slides/slide9.xml"/><Relationship Id="Re95353eb4ad4462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5a9409880f24b00" Type="http://schemas.openxmlformats.org/officeDocument/2006/relationships/slide" Target="../slides/slide10.xml"/><Relationship Id="Ra6fb2260a3c34c94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f2f2f8e608ad464c" Type="http://schemas.openxmlformats.org/officeDocument/2006/relationships/notesMaster" Target="../notesMasters/notesMaster1.xml"/><Relationship Id="Rfbb4c5fb27f74570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6d6b48a177134956" Type="http://schemas.openxmlformats.org/officeDocument/2006/relationships/notesMaster" Target="../notesMasters/notesMaster1.xml"/><Relationship Id="R860a387c5bbd4b15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594d6bc736f4b67" Type="http://schemas.openxmlformats.org/officeDocument/2006/relationships/notesMaster" Target="../notesMasters/notesMaster1.xml"/><Relationship Id="Rd04ba95321f545f7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3cb26031b142460e" Type="http://schemas.openxmlformats.org/officeDocument/2006/relationships/notesMaster" Target="../notesMasters/notesMaster1.xml"/><Relationship Id="Re9c24685a97a410b" Type="http://schemas.openxmlformats.org/officeDocument/2006/relationships/slide" Target="../slides/slide14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c6f5838e0b24ed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9aa17128d43747f2" Type="http://schemas.openxmlformats.org/officeDocument/2006/relationships/theme" Target="theme/theme2.xml"/><Relationship Id="Rb97d00d02f944cf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7d00d02f944cf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05d40a3cec1494e" Type="http://schemas.openxmlformats.org/officeDocument/2006/relationships/slideLayout" Target="../slideLayouts/slideLayout1.xml"/><Relationship Id="R801d27f48dff426d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7af1042f574f7f" Type="http://schemas.openxmlformats.org/officeDocument/2006/relationships/notesSlide" Target="../notesSlides/notesSlide2.xml"/><Relationship Id="R253433bb6ccf4bc5" Type="http://schemas.openxmlformats.org/officeDocument/2006/relationships/image" Target="../media/image2.jpeg"/><Relationship Id="R76d5b4d2d3c64fee" Type="http://schemas.openxmlformats.org/officeDocument/2006/relationships/image" Target="../media/image4.jpeg"/><Relationship Id="R994185b9cdd24529" Type="http://schemas.openxmlformats.org/officeDocument/2006/relationships/slideLayout" Target="../slideLayouts/slideLayout1.xml"/><Relationship Id="Rd5fda261828a47e4" Type="http://schemas.openxmlformats.org/officeDocument/2006/relationships/image" Target="../media/image3.jpeg"/><Relationship Id="Rf40bb53939e6493c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01ab939c7dca4703" Type="http://schemas.openxmlformats.org/officeDocument/2006/relationships/image" Target="../media/image2.png"/><Relationship Id="R6e1bc30079ec4462" Type="http://schemas.openxmlformats.org/officeDocument/2006/relationships/slideLayout" Target="../slideLayouts/slideLayout1.xml"/><Relationship Id="R9c365ffc3a644035" Type="http://schemas.openxmlformats.org/officeDocument/2006/relationships/image" Target="../media/image.png"/><Relationship Id="Rd41ef50f088244ed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fa29887d0044dfb" Type="http://schemas.openxmlformats.org/officeDocument/2006/relationships/image" Target="../media/image2.jpeg"/><Relationship Id="R14083e6586be4a86" Type="http://schemas.openxmlformats.org/officeDocument/2006/relationships/slideLayout" Target="../slideLayouts/slideLayout1.xml"/><Relationship Id="R297e4e346599422a" Type="http://schemas.openxmlformats.org/officeDocument/2006/relationships/notesSlide" Target="../notesSlides/notesSlide4.xml"/><Relationship Id="R505d73540472478c" Type="http://schemas.openxmlformats.org/officeDocument/2006/relationships/image" Target="../media/image.jpeg"/><Relationship Id="R95a84b98043f48fa" Type="http://schemas.openxmlformats.org/officeDocument/2006/relationships/image" Target="../media/image3.jpeg"/></Relationships>
</file>

<file path=ppt/slides/_rels/slide5.xml.rels><?xml version='1.0' encoding='UTF-8' standalone='yes'?>
<Relationships xmlns="http://schemas.openxmlformats.org/package/2006/relationships"><Relationship Id="R07ef210b013c4bc9" Type="http://schemas.openxmlformats.org/officeDocument/2006/relationships/notesSlide" Target="../notesSlides/notesSlide5.xml"/><Relationship Id="Rc55b50dff48545a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42488abad7f5421f" Type="http://schemas.openxmlformats.org/officeDocument/2006/relationships/notesSlide" Target="../notesSlides/notesSlide6.xml"/><Relationship Id="R751c4ea1a85d4c9e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4901f6c1a9546d5" Type="http://schemas.openxmlformats.org/officeDocument/2006/relationships/slideLayout" Target="../slideLayouts/slideLayout1.xml"/><Relationship Id="Rdbefdde0fa33447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9826dd1be504b76" Type="http://schemas.openxmlformats.org/officeDocument/2006/relationships/notesSlide" Target="../notesSlides/notesSlide8.xml"/><Relationship Id="R971b89e642ea4d67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365e2c89402f4040" Type="http://schemas.openxmlformats.org/officeDocument/2006/relationships/slideLayout" Target="../slideLayouts/slideLayout1.xml"/><Relationship Id="R8965d40ef83b41b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898288f419324837" Type="http://schemas.openxmlformats.org/officeDocument/2006/relationships/slideLayout" Target="../slideLayouts/slideLayout1.xml"/><Relationship Id="Ra00a7f3059ae4afb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1405892954794470" Type="http://schemas.openxmlformats.org/officeDocument/2006/relationships/slideLayout" Target="../slideLayouts/slideLayout1.xml"/><Relationship Id="R308c01b0ca0142ab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053bfa0582b4b03" Type="http://schemas.openxmlformats.org/officeDocument/2006/relationships/image" Target="../media/image5.jpeg"/><Relationship Id="Rab8b2dbd97df4064" Type="http://schemas.openxmlformats.org/officeDocument/2006/relationships/slideLayout" Target="../slideLayouts/slideLayout1.xml"/><Relationship Id="Rd4469773396541e3" Type="http://schemas.openxmlformats.org/officeDocument/2006/relationships/notesSlide" Target="../notesSlides/notesSlide12.xml"/><Relationship Id="Rd6d2cfbdf1134403" Type="http://schemas.openxmlformats.org/officeDocument/2006/relationships/image" Target="../media/image6.jpeg"/></Relationships>
</file>

<file path=ppt/slides/_rels/slide13.xml.rels><?xml version='1.0' encoding='UTF-8' standalone='yes'?>
<Relationships xmlns="http://schemas.openxmlformats.org/package/2006/relationships"><Relationship Id="R6b385905fa5c473d" Type="http://schemas.openxmlformats.org/officeDocument/2006/relationships/slideLayout" Target="../slideLayouts/slideLayout1.xml"/><Relationship Id="Rb66f7b0f34d343aa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0e6965e9b2c047d9" Type="http://schemas.openxmlformats.org/officeDocument/2006/relationships/slideLayout" Target="../slideLayouts/slideLayout1.xml"/><Relationship Id="R6f5166322eaa477d" Type="http://schemas.openxmlformats.org/officeDocument/2006/relationships/notesSlide" Target="../notesSlides/notesSlide14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background">
            <a:extLst xmlns:a="http://schemas.openxmlformats.org/drawingml/2006/main">
              <a:ext uri="{FF2B5EF4-FFF2-40B4-BE49-F238E27FC236}">
                <a16:creationId xmlns:a16="http://schemas.microsoft.com/office/drawing/2014/main" id="{0B1F1DB3-2F41-48F3-BFBB-4482DC13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right brand field">
            <a:extLst xmlns:a="http://schemas.openxmlformats.org/drawingml/2006/main">
              <a:ext uri="{FF2B5EF4-FFF2-40B4-BE49-F238E27FC236}">
                <a16:creationId xmlns:a16="http://schemas.microsoft.com/office/drawing/2014/main" id="{1287B85A-CDFA-4B09-A9E4-9FB0F4B2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orange accent">
            <a:extLst xmlns:a="http://schemas.openxmlformats.org/drawingml/2006/main">
              <a:ext uri="{FF2B5EF4-FFF2-40B4-BE49-F238E27FC236}">
                <a16:creationId xmlns:a16="http://schemas.microsoft.com/office/drawing/2014/main" id="{34312AE6-4C82-4EBB-8AD3-2FD215D7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5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soft block">
            <a:extLst xmlns:a="http://schemas.openxmlformats.org/drawingml/2006/main">
              <a:ext uri="{FF2B5EF4-FFF2-40B4-BE49-F238E27FC236}">
                <a16:creationId xmlns:a16="http://schemas.microsoft.com/office/drawing/2014/main" id="{534A8EEB-3263-426A-A1F4-6589CFAE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5676900" cy="4838700"/>
          </a:xfrm>
          <a:prstGeom xmlns:a="http://schemas.openxmlformats.org/drawingml/2006/main" prst="roundRect">
            <a:avLst>
              <a:gd name="adj" fmla="val 15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0D2C3"/>
            </a:solidFill>
            <a:prstDash val="solid"/>
          </a:ln>
        </p:spPr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E964962C-23D0-46E6-8D53-141523A9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1905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rPr>
              <a:t>Lovv</a:t>
            </a:r>
          </a:p>
        </p:txBody>
      </p:sp>
      <p:sp>
        <p:nvSpPr>
          <p:cNvPr id="6" name="직사각형 5">
            <a:extLst xmlns:a="http://schemas.openxmlformats.org/drawingml/2006/main">
              <a:ext uri="{FF2B5EF4-FFF2-40B4-BE49-F238E27FC236}">
                <a16:creationId xmlns:a16="http://schemas.microsoft.com/office/drawing/2014/main" id="{D90D565E-0C6E-4C6E-A3AD-A36C0A13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14475"/>
            <a:ext cx="35242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35C50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735C50"/>
                </a:solidFill>
                <a:latin typeface="Aptos Mono"/>
                <a:ea typeface="Aptos Mono"/>
                <a:cs typeface="Aptos Mono"/>
              </a:rPr>
              <a:t>한일 소도시 대화형 여행 추천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5C547E12-62CD-4D32-806E-3192811C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5619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75" b="1">
                <a:solidFill>
                  <a:srgbClr val="211815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211815"/>
                </a:solidFill>
                <a:latin typeface="Malgun Gothic"/>
                <a:ea typeface="Malgun Gothic"/>
                <a:cs typeface="Malgun Gothic"/>
              </a:rPr>
              <a:t>서울·오사카 말고,</a:t>
            </a:r>
          </a:p>
          <a:p xmlns:a="http://schemas.openxmlformats.org/drawingml/2006/main">
            <a:pPr algn="l">
              <a:buNone/>
              <a:defRPr sz="3675" b="1">
                <a:solidFill>
                  <a:srgbClr val="211815"/>
                </a:solidFill>
                <a:latin typeface="Malgun Gothic"/>
                <a:ea typeface="Malgun Gothic"/>
                <a:cs typeface="Malgun Gothic"/>
              </a:defRPr>
            </a:pPr>
            <a:r>
              <a:rPr sz="3675" b="1">
                <a:solidFill>
                  <a:srgbClr val="211815"/>
                </a:solidFill>
                <a:latin typeface="Malgun Gothic"/>
                <a:ea typeface="Malgun Gothic"/>
                <a:cs typeface="Malgun Gothic"/>
              </a:rPr>
              <a:t>지금은 이곳</a:t>
            </a:r>
          </a:p>
        </p:txBody>
      </p:sp>
      <p:sp>
        <p:nvSpPr>
          <p:cNvPr id="8" name="tagline rule">
            <a:extLst xmlns:a="http://schemas.openxmlformats.org/drawingml/2006/main">
              <a:ext uri="{FF2B5EF4-FFF2-40B4-BE49-F238E27FC236}">
                <a16:creationId xmlns:a16="http://schemas.microsoft.com/office/drawing/2014/main" id="{E5ABABC3-76D6-4AE7-B147-C3AD413A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33825"/>
            <a:ext cx="447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5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EFAD3E1-5705-4047-B29E-C7ED350A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29100"/>
            <a:ext cx="5143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defRPr>
            </a:pP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E20DD1BC-3443-4279-80BD-8AF32A32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674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B6D5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8B6D5E"/>
                </a:solidFill>
                <a:latin typeface="Malgun Gothic"/>
                <a:ea typeface="Malgun Gothic"/>
                <a:cs typeface="Malgun Gothic"/>
              </a:rPr>
              <a:t>조동휘  ·  조라에몽의 만능 도구들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1D5E8E52-571D-44E0-9114-115EAA58B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95425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DCC6BA"/>
                </a:solidFill>
                <a:latin typeface="Malgun Gothic"/>
                <a:ea typeface="Malgun Gothic"/>
                <a:cs typeface="Malgun Gothic"/>
              </a:defRPr>
            </a:pPr>
          </a:p>
        </p:txBody>
      </p:sp>
      <p:sp>
        <p:nvSpPr>
          <p:cNvPr id="14" name="Local card">
            <a:extLst xmlns:a="http://schemas.openxmlformats.org/drawingml/2006/main">
              <a:ext uri="{FF2B5EF4-FFF2-40B4-BE49-F238E27FC236}">
                <a16:creationId xmlns:a16="http://schemas.microsoft.com/office/drawing/2014/main" id="{54510F48-2366-4F3E-949F-37678044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14550"/>
            <a:ext cx="31813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15" name="직사각형 14">
            <a:extLst xmlns:a="http://schemas.openxmlformats.org/drawingml/2006/main">
              <a:ext uri="{FF2B5EF4-FFF2-40B4-BE49-F238E27FC236}">
                <a16:creationId xmlns:a16="http://schemas.microsoft.com/office/drawing/2014/main" id="{9BEC77FC-4093-470D-B635-6B306E9F0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86000"/>
            <a:ext cx="552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rPr>
              <a:t>Lo</a:t>
            </a:r>
          </a:p>
        </p:txBody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E61B270A-93CD-4302-8F95-9746DDBE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860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Local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01F4CEDA-FF08-44BA-8C5D-A136FE0A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6098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rPr>
              <a:t>대도시 밖의 지역 맥락</a:t>
            </a:r>
          </a:p>
        </p:txBody>
      </p:sp>
      <p:sp>
        <p:nvSpPr>
          <p:cNvPr id="18" name="Vibe card">
            <a:extLst xmlns:a="http://schemas.openxmlformats.org/drawingml/2006/main">
              <a:ext uri="{FF2B5EF4-FFF2-40B4-BE49-F238E27FC236}">
                <a16:creationId xmlns:a16="http://schemas.microsoft.com/office/drawing/2014/main" id="{EC82A35F-59CD-499B-B846-95C56BDF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52800"/>
            <a:ext cx="31813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19" name="직사각형 18">
            <a:extLst xmlns:a="http://schemas.openxmlformats.org/drawingml/2006/main">
              <a:ext uri="{FF2B5EF4-FFF2-40B4-BE49-F238E27FC236}">
                <a16:creationId xmlns:a16="http://schemas.microsoft.com/office/drawing/2014/main" id="{BF1223B3-6754-4453-BE1F-1AFEF418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24250"/>
            <a:ext cx="552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rPr>
              <a:t>V</a:t>
            </a:r>
          </a:p>
        </p:txBody>
      </p:sp>
      <p:sp>
        <p:nvSpPr>
          <p:cNvPr id="20" name="직사각형 19">
            <a:extLst xmlns:a="http://schemas.openxmlformats.org/drawingml/2006/main">
              <a:ext uri="{FF2B5EF4-FFF2-40B4-BE49-F238E27FC236}">
                <a16:creationId xmlns:a16="http://schemas.microsoft.com/office/drawing/2014/main" id="{D3EF5182-1F22-458C-850E-D496465B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52425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Vibe</a:t>
            </a:r>
          </a:p>
        </p:txBody>
      </p:sp>
      <p:sp>
        <p:nvSpPr>
          <p:cNvPr id="21" name="직사각형 20">
            <a:extLst xmlns:a="http://schemas.openxmlformats.org/drawingml/2006/main">
              <a:ext uri="{FF2B5EF4-FFF2-40B4-BE49-F238E27FC236}">
                <a16:creationId xmlns:a16="http://schemas.microsoft.com/office/drawing/2014/main" id="{3B28207C-A8B7-4DC8-B3D1-8169DA1C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481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rPr>
              <a:t>취향과 분위기가 맞는 선택</a:t>
            </a:r>
          </a:p>
        </p:txBody>
      </p:sp>
      <p:sp>
        <p:nvSpPr>
          <p:cNvPr id="22" name="Voyage card">
            <a:extLst xmlns:a="http://schemas.openxmlformats.org/drawingml/2006/main">
              <a:ext uri="{FF2B5EF4-FFF2-40B4-BE49-F238E27FC236}">
                <a16:creationId xmlns:a16="http://schemas.microsoft.com/office/drawing/2014/main" id="{CFDC16D5-E8CF-4A48-9050-94EA9215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91050"/>
            <a:ext cx="31813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8F2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D89D70BB-B0F2-4333-A1CE-2C65633F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762500"/>
            <a:ext cx="552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26518"/>
                </a:solidFill>
                <a:latin typeface="Aptos Display"/>
                <a:ea typeface="Aptos Display"/>
                <a:cs typeface="Aptos Display"/>
              </a:rPr>
              <a:t>V</a:t>
            </a:r>
          </a:p>
        </p:txBody>
      </p:sp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23B3ABDD-7B84-453D-8D31-A80CEAD8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762500"/>
            <a:ext cx="1695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Voyage</a:t>
            </a:r>
          </a:p>
        </p:txBody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5CFBACB7-D35B-40FB-8497-0C9306B5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0863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735C50"/>
                </a:solidFill>
                <a:latin typeface="Malgun Gothic"/>
                <a:ea typeface="Malgun Gothic"/>
                <a:cs typeface="Malgun Gothic"/>
              </a:rPr>
              <a:t>추천에서 일정까지 이어지는 여행</a:t>
            </a:r>
          </a:p>
        </p:txBody>
      </p:sp>
      <p:sp>
        <p:nvSpPr>
          <p:cNvPr id="26" name="직사각형 25">
            <a:extLst xmlns:a="http://schemas.openxmlformats.org/drawingml/2006/main">
              <a:ext uri="{FF2B5EF4-FFF2-40B4-BE49-F238E27FC236}">
                <a16:creationId xmlns:a16="http://schemas.microsoft.com/office/drawing/2014/main" id="{B79D53BD-FCE8-4FF0-BAB7-32AC7E22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057900"/>
            <a:ext cx="838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DCC6BA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DCC6BA"/>
                </a:solidFill>
                <a:latin typeface="Aptos Mono"/>
                <a:ea typeface="Aptos Mono"/>
                <a:cs typeface="Aptos Mono"/>
              </a:rPr>
              <a:t>01 / 14</a:t>
            </a:r>
          </a:p>
        </p:txBody>
      </p:sp>
    </p:spTree>
    <p:extLst>
      <p:ext uri="{BB962C8B-B14F-4D97-AF65-F5344CB8AC3E}">
        <p14:creationId xmlns:p14="http://schemas.microsoft.com/office/powerpoint/2010/main" val="16969550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2B803730-6E9C-45DD-9E2F-A443D06DF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800FCFB5-033D-4B48-859F-DF758173C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PROBLEM · 정의와 사례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D795FABD-0326-4FE3-8659-D27695E9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57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348133F-773D-47CF-AF05-9340BF66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19150"/>
            <a:ext cx="9906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오버투어리즘이란?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E070B426-1DB5-4153-B52A-E8284DAD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3759"/>
            <a:ext cx="2095500" cy="2887218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pic>
        <p:nvPicPr>
          <p:cNvPr id="36" name="그림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bb53939e6493c"/>
          <a:srcRect xmlns:a="http://schemas.openxmlformats.org/drawingml/2006/main" l="0" t="31212" r="0" b="31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643759"/>
            <a:ext cx="2095500" cy="1181100"/>
          </a:xfrm>
          <a:prstGeom xmlns:a="http://schemas.openxmlformats.org/drawingml/2006/main" prst="rect">
            <a:avLst/>
          </a:prstGeom>
        </p:spPr>
      </p:pic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C270655F-6F3B-4636-B982-CC4AE712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34409"/>
            <a:ext cx="163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생활 문제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35BF13A6-CBB9-4F76-96C0-7820BC19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2059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북촌 · 서울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56AECA38-520A-4D81-B5E4-45D1F5D3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3059"/>
            <a:ext cx="1638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주거지와 관광지가 겹쳐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소음·사생활 침해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8BADA4B7-9A66-4A83-AB12-E040B8E4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43759"/>
            <a:ext cx="2095500" cy="2887218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pic>
        <p:nvPicPr>
          <p:cNvPr id="41" name="그림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3433bb6ccf4bc5"/>
          <a:srcRect xmlns:a="http://schemas.openxmlformats.org/drawingml/2006/main" l="0" t="7621" r="0" b="76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8500" y="2643759"/>
            <a:ext cx="2095500" cy="1181100"/>
          </a:xfrm>
          <a:prstGeom xmlns:a="http://schemas.openxmlformats.org/drawingml/2006/main" prst="rect">
            <a:avLst/>
          </a:prstGeom>
        </p:spPr>
      </p:pic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5EE7FC34-4DC1-4DC9-B021-16CAA87E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34409"/>
            <a:ext cx="163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환경 문제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FFD111FD-2802-4B84-9D48-0059BAED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282059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제주</a:t>
            </a:r>
          </a:p>
        </p:txBody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2BF4D79E-67BC-410B-8530-FBD2AE00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663059"/>
            <a:ext cx="1638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방문객 급증 →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생활폐기물·처리 부담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61B42A17-8725-40C1-8268-080C96DE7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43759"/>
            <a:ext cx="2095500" cy="2887218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pic>
        <p:nvPicPr>
          <p:cNvPr id="46" name="그림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da261828a47e4"/>
          <a:srcRect xmlns:a="http://schemas.openxmlformats.org/drawingml/2006/main" l="101" t="0" r="10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7850" y="2643759"/>
            <a:ext cx="2095500" cy="1181100"/>
          </a:xfrm>
          <a:prstGeom xmlns:a="http://schemas.openxmlformats.org/drawingml/2006/main" prst="rect">
            <a:avLst/>
          </a:prstGeom>
        </p:spPr>
      </p:pic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C8D30CAC-D676-4A99-B49A-6F953BDE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034409"/>
            <a:ext cx="163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도시 문제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ED861D23-9099-4C7A-94E7-FCA5AA85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82059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가마쿠라 에노덴</a:t>
            </a:r>
          </a:p>
        </p:txBody>
      </p:sp>
      <p:sp>
        <p:nvSpPr>
          <p:cNvPr id="19" name="직사각형 18">
            <a:extLst xmlns:a="http://schemas.openxmlformats.org/drawingml/2006/main">
              <a:ext uri="{FF2B5EF4-FFF2-40B4-BE49-F238E27FC236}">
                <a16:creationId xmlns:a16="http://schemas.microsoft.com/office/drawing/2014/main" id="{D950D180-5575-422D-A1BC-88BA79F9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63059"/>
            <a:ext cx="1638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촬영 인파가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건널목·차도로 몰림</a:t>
            </a:r>
          </a:p>
        </p:txBody>
      </p:sp>
      <p:sp>
        <p:nvSpPr>
          <p:cNvPr id="20" name="card">
            <a:extLst xmlns:a="http://schemas.openxmlformats.org/drawingml/2006/main">
              <a:ext uri="{FF2B5EF4-FFF2-40B4-BE49-F238E27FC236}">
                <a16:creationId xmlns:a16="http://schemas.microsoft.com/office/drawing/2014/main" id="{F199DB72-AE6E-4C87-9C3B-B2545571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3759"/>
            <a:ext cx="2095500" cy="2887218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pic>
        <p:nvPicPr>
          <p:cNvPr id="51" name="그림 2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d5b4d2d3c64fee"/>
          <a:srcRect xmlns:a="http://schemas.openxmlformats.org/drawingml/2006/main" l="0" t="7757" r="0" b="77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77200" y="2643759"/>
            <a:ext cx="2095500" cy="1181100"/>
          </a:xfrm>
          <a:prstGeom xmlns:a="http://schemas.openxmlformats.org/drawingml/2006/main" prst="rect">
            <a:avLst/>
          </a:prstGeom>
        </p:spPr>
      </p:pic>
      <p:sp>
        <p:nvSpPr>
          <p:cNvPr id="22" name="직사각형 21">
            <a:extLst xmlns:a="http://schemas.openxmlformats.org/drawingml/2006/main">
              <a:ext uri="{FF2B5EF4-FFF2-40B4-BE49-F238E27FC236}">
                <a16:creationId xmlns:a16="http://schemas.microsoft.com/office/drawing/2014/main" id="{8DA59BD6-6374-46A2-B6EA-5E79F66C3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34409"/>
            <a:ext cx="1638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문화 문제</a:t>
            </a:r>
          </a:p>
        </p:txBody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9C95C32E-19B0-4A8A-82A8-11B1FF11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82059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교토 기온</a:t>
            </a:r>
          </a:p>
        </p:txBody>
      </p:sp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6165D5DF-43B5-4B19-9B90-3A37D4C1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663059"/>
            <a:ext cx="16383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사유지 출입·무단 촬영으로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1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일상 침범</a:t>
            </a:r>
          </a:p>
        </p:txBody>
      </p:sp>
    </p:spTree>
    <p:extLst>
      <p:ext uri="{BB962C8B-B14F-4D97-AF65-F5344CB8AC3E}">
        <p14:creationId xmlns:p14="http://schemas.microsoft.com/office/powerpoint/2010/main" val="3013095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ackground">
            <a:extLst xmlns:a="http://schemas.openxmlformats.org/drawingml/2006/main">
              <a:ext uri="{FF2B5EF4-FFF2-40B4-BE49-F238E27FC236}">
                <a16:creationId xmlns:a16="http://schemas.microsoft.com/office/drawing/2014/main" id="{EFAA1C24-D006-4AF4-B577-CBB705C7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AF639F0B-4CB4-4446-B1D8-F31C59F6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MARKET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1FCD9135-2AD7-4144-A156-538D01F9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57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2AB5D4E-78A1-461B-A003-26C0471F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38200"/>
            <a:ext cx="933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한일 여행은 가깝고, 반복되고, 확장 가능합니다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4A4B35D9-53B9-49E4-A274-975894A2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68905"/>
            <a:ext cx="4714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pic>
        <p:nvPicPr>
          <p:cNvPr id="28" name="그림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365ffc3a644035"/>
          <a:srcRect xmlns:a="http://schemas.openxmlformats.org/drawingml/2006/main" l="0" t="3952" r="0" b="39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57250" y="2668905"/>
            <a:ext cx="4714875" cy="1200150"/>
          </a:xfrm>
          <a:prstGeom xmlns:a="http://schemas.openxmlformats.org/drawingml/2006/main" prst="rect">
            <a:avLst/>
          </a:prstGeom>
        </p:spPr>
      </p:pic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AB78F384-64FF-44C7-A5F8-144FD655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1670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일본 → 한국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DA5E39A0-395C-4BCD-867A-BDAA56DE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1675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3,000만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AB22365F-711D-41DE-A3C5-C5D2538F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1680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외국인 관광객 2029 목표</a:t>
            </a: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90ABD324-5367-483D-BAB7-90FEB66F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1675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90%+</a:t>
            </a:r>
          </a:p>
        </p:txBody>
      </p:sp>
      <p:sp>
        <p:nvSpPr>
          <p:cNvPr id="11" name="직사각형 10">
            <a:extLst xmlns:a="http://schemas.openxmlformats.org/drawingml/2006/main">
              <a:ext uri="{FF2B5EF4-FFF2-40B4-BE49-F238E27FC236}">
                <a16:creationId xmlns:a16="http://schemas.microsoft.com/office/drawing/2014/main" id="{5F5F937A-8F91-42CA-87C6-3CB4ED65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1680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일본 개별 자유여행 비중</a:t>
            </a:r>
          </a:p>
        </p:txBody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D7F603A6-2457-4987-8047-B5EB6B70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68905"/>
            <a:ext cx="471487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pic>
        <p:nvPicPr>
          <p:cNvPr id="35" name="그림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b939c7dca4703"/>
          <a:srcRect xmlns:a="http://schemas.openxmlformats.org/drawingml/2006/main" l="0" t="3952" r="0" b="39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43625" y="2668905"/>
            <a:ext cx="4714875" cy="1200150"/>
          </a:xfrm>
          <a:prstGeom xmlns:a="http://schemas.openxmlformats.org/drawingml/2006/main" prst="rect">
            <a:avLst/>
          </a:prstGeom>
        </p:spPr>
      </p:pic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FCE57046-2C19-4F9E-85B3-18A62BE4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116705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한국 → 일본</a:t>
            </a:r>
          </a:p>
        </p:txBody>
      </p:sp>
      <p:sp>
        <p:nvSpPr>
          <p:cNvPr id="15" name="직사각형 14">
            <a:extLst xmlns:a="http://schemas.openxmlformats.org/drawingml/2006/main">
              <a:ext uri="{FF2B5EF4-FFF2-40B4-BE49-F238E27FC236}">
                <a16:creationId xmlns:a16="http://schemas.microsoft.com/office/drawing/2014/main" id="{81C10BD1-4013-4694-B56B-936B7AC9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1675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+35%</a:t>
            </a:r>
          </a:p>
        </p:txBody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7576615D-6B02-4443-8ADF-7C61C581B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91680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일본 소도시 예약 증가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8878FE55-756E-4906-AC8F-C3DEB85D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16755"/>
            <a:ext cx="190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+261%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9053A7DE-4AF8-4215-9A56-E3C081B9B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16805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구마모토 예약 증가</a:t>
            </a:r>
          </a:p>
        </p:txBody>
      </p:sp>
    </p:spTree>
    <p:extLst>
      <p:ext uri="{BB962C8B-B14F-4D97-AF65-F5344CB8AC3E}">
        <p14:creationId xmlns:p14="http://schemas.microsoft.com/office/powerpoint/2010/main" val="16615943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background">
            <a:extLst xmlns:a="http://schemas.openxmlformats.org/drawingml/2006/main">
              <a:ext uri="{FF2B5EF4-FFF2-40B4-BE49-F238E27FC236}">
                <a16:creationId xmlns:a16="http://schemas.microsoft.com/office/drawing/2014/main" id="{60FF7E5F-7232-43DA-B5B7-A0B8C0A6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A6049046-2457-4B0D-A4B7-705AF1D6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84A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84A0D"/>
                </a:solidFill>
                <a:latin typeface="Aptos Mono"/>
                <a:ea typeface="Aptos Mono"/>
                <a:cs typeface="Aptos Mono"/>
              </a:rPr>
              <a:t>· PROBLEM · 핵심 문제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14C3B51A-F347-43A7-85AF-C8FB59E9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819150"/>
            <a:ext cx="9715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발견·정리·신뢰가 병목입니다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5ABFBFE4-185C-451C-BED1-F788BFE6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6" name="01 card">
            <a:extLst xmlns:a="http://schemas.openxmlformats.org/drawingml/2006/main">
              <a:ext uri="{FF2B5EF4-FFF2-40B4-BE49-F238E27FC236}">
                <a16:creationId xmlns:a16="http://schemas.microsoft.com/office/drawing/2014/main" id="{79BA6D56-F21C-42D5-BE46-9171DD542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295650" cy="373380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1CBB8"/>
            </a:solidFill>
            <a:prstDash val="solid"/>
          </a:ln>
        </p:spPr>
      </p:sp>
      <p:pic>
        <p:nvPicPr>
          <p:cNvPr id="79" name="그림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d73540472478c"/>
          <a:srcRect xmlns:a="http://schemas.openxmlformats.org/drawingml/2006/main" l="0" t="16820" r="0" b="168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962150"/>
            <a:ext cx="3067050" cy="1162050"/>
          </a:xfrm>
          <a:prstGeom xmlns:a="http://schemas.openxmlformats.org/drawingml/2006/main" prst="rect">
            <a:avLst/>
          </a:prstGeom>
        </p:spPr>
      </p:pic>
      <p:sp>
        <p:nvSpPr>
          <p:cNvPr id="8" name="01 accent">
            <a:extLst xmlns:a="http://schemas.openxmlformats.org/drawingml/2006/main">
              <a:ext uri="{FF2B5EF4-FFF2-40B4-BE49-F238E27FC236}">
                <a16:creationId xmlns:a16="http://schemas.microsoft.com/office/drawing/2014/main" id="{BA4E5BD5-16B3-48C0-97CC-13664EA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3067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A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77C95AC9-D83D-4050-BF4B-7F67F7BE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74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F5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F5A14"/>
                </a:solidFill>
                <a:latin typeface="Aptos Mono"/>
                <a:ea typeface="Aptos Mono"/>
                <a:cs typeface="Aptos Mono"/>
              </a:rPr>
              <a:t>문제 01</a:t>
            </a: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10B714CA-D50B-47E0-A292-FA14B8C9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2194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85" b="1">
                <a:solidFill>
                  <a:srgbClr val="A79A91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A79A91"/>
                </a:solidFill>
                <a:latin typeface="Aptos Mono"/>
                <a:ea typeface="Aptos Mono"/>
                <a:cs typeface="Aptos Mono"/>
              </a:rPr>
              <a:t>AP</a:t>
            </a:r>
          </a:p>
        </p:txBody>
      </p:sp>
      <p:sp>
        <p:nvSpPr>
          <p:cNvPr id="11" name="직사각형 10">
            <a:extLst xmlns:a="http://schemas.openxmlformats.org/drawingml/2006/main">
              <a:ext uri="{FF2B5EF4-FFF2-40B4-BE49-F238E27FC236}">
                <a16:creationId xmlns:a16="http://schemas.microsoft.com/office/drawing/2014/main" id="{C725F43D-1976-4616-9C69-66FDC260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00450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020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유명지만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020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간다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A54C4C60-0BD4-40B2-98E1-E4733020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4815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F6761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761"/>
                </a:solidFill>
                <a:latin typeface="Aptos"/>
                <a:ea typeface="Aptos"/>
                <a:cs typeface="Aptos"/>
              </a:rPr>
              <a:t>SNS 스팟으로 수요가 쏠림</a:t>
            </a:r>
          </a:p>
        </p:txBody>
      </p:sp>
      <p:sp>
        <p:nvSpPr>
          <p:cNvPr id="13" name="01 evidence box">
            <a:extLst xmlns:a="http://schemas.openxmlformats.org/drawingml/2006/main">
              <a:ext uri="{FF2B5EF4-FFF2-40B4-BE49-F238E27FC236}">
                <a16:creationId xmlns:a16="http://schemas.microsoft.com/office/drawing/2014/main" id="{BDE735B5-19D1-4A04-BEC0-4F6DD2FF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838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54A058D7-B23D-4A6C-A707-76A4A8B78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95850"/>
            <a:ext cx="2533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1">
                <a:solidFill>
                  <a:srgbClr val="D84A0D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84A0D"/>
                </a:solidFill>
                <a:latin typeface="Aptos"/>
                <a:ea typeface="Aptos"/>
                <a:cs typeface="Aptos"/>
              </a:rPr>
              <a:t>후지산 가림막 사례</a:t>
            </a:r>
          </a:p>
        </p:txBody>
      </p:sp>
      <p:sp>
        <p:nvSpPr>
          <p:cNvPr id="15" name="01 solution chip">
            <a:extLst xmlns:a="http://schemas.openxmlformats.org/drawingml/2006/main">
              <a:ext uri="{FF2B5EF4-FFF2-40B4-BE49-F238E27FC236}">
                <a16:creationId xmlns:a16="http://schemas.microsoft.com/office/drawing/2014/main" id="{C792D577-226D-4DE7-B13B-4E20D871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81600"/>
            <a:ext cx="2838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5A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71A8474D-CCC7-43BD-9601-A8A15D12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257800"/>
            <a:ext cx="2609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64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대체 소도시 발견</a:t>
            </a:r>
          </a:p>
        </p:txBody>
      </p:sp>
      <p:sp>
        <p:nvSpPr>
          <p:cNvPr id="17" name="02 card">
            <a:extLst xmlns:a="http://schemas.openxmlformats.org/drawingml/2006/main">
              <a:ext uri="{FF2B5EF4-FFF2-40B4-BE49-F238E27FC236}">
                <a16:creationId xmlns:a16="http://schemas.microsoft.com/office/drawing/2014/main" id="{4A159089-820D-487E-88B9-383CDBD1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847850"/>
            <a:ext cx="3295650" cy="373380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1CBB8"/>
            </a:solidFill>
            <a:prstDash val="solid"/>
          </a:ln>
        </p:spPr>
      </p:sp>
      <p:pic>
        <p:nvPicPr>
          <p:cNvPr id="90" name="그림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a29887d0044dfb"/>
          <a:srcRect xmlns:a="http://schemas.openxmlformats.org/drawingml/2006/main" l="0" t="21566" r="0" b="215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62475" y="1962150"/>
            <a:ext cx="3067050" cy="1162050"/>
          </a:xfrm>
          <a:prstGeom xmlns:a="http://schemas.openxmlformats.org/drawingml/2006/main" prst="rect">
            <a:avLst/>
          </a:prstGeom>
        </p:spPr>
      </p:pic>
      <p:sp>
        <p:nvSpPr>
          <p:cNvPr id="19" name="02 accent">
            <a:extLst xmlns:a="http://schemas.openxmlformats.org/drawingml/2006/main">
              <a:ext uri="{FF2B5EF4-FFF2-40B4-BE49-F238E27FC236}">
                <a16:creationId xmlns:a16="http://schemas.microsoft.com/office/drawing/2014/main" id="{BE94B91D-33B2-4060-B517-537DF4B9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124200"/>
            <a:ext cx="3067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1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직사각형 19">
            <a:extLst xmlns:a="http://schemas.openxmlformats.org/drawingml/2006/main">
              <a:ext uri="{FF2B5EF4-FFF2-40B4-BE49-F238E27FC236}">
                <a16:creationId xmlns:a16="http://schemas.microsoft.com/office/drawing/2014/main" id="{234CD2E3-F12A-420E-BBBD-4B11C7A7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352800"/>
            <a:ext cx="74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2E719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2E7194"/>
                </a:solidFill>
                <a:latin typeface="Aptos Mono"/>
                <a:ea typeface="Aptos Mono"/>
                <a:cs typeface="Aptos Mono"/>
              </a:rPr>
              <a:t>문제 02</a:t>
            </a:r>
          </a:p>
        </p:txBody>
      </p:sp>
      <p:sp>
        <p:nvSpPr>
          <p:cNvPr id="21" name="직사각형 20">
            <a:extLst xmlns:a="http://schemas.openxmlformats.org/drawingml/2006/main">
              <a:ext uri="{FF2B5EF4-FFF2-40B4-BE49-F238E27FC236}">
                <a16:creationId xmlns:a16="http://schemas.microsoft.com/office/drawing/2014/main" id="{4FE5A56A-D257-431F-8418-97A4A343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2194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85" b="1">
                <a:solidFill>
                  <a:srgbClr val="A79A91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A79A91"/>
                </a:solidFill>
                <a:latin typeface="Aptos Mono"/>
                <a:ea typeface="Aptos Mono"/>
                <a:cs typeface="Aptos Mono"/>
              </a:rPr>
              <a:t>News Corp</a:t>
            </a:r>
          </a:p>
        </p:txBody>
      </p:sp>
      <p:sp>
        <p:nvSpPr>
          <p:cNvPr id="22" name="직사각형 21">
            <a:extLst xmlns:a="http://schemas.openxmlformats.org/drawingml/2006/main">
              <a:ext uri="{FF2B5EF4-FFF2-40B4-BE49-F238E27FC236}">
                <a16:creationId xmlns:a16="http://schemas.microsoft.com/office/drawing/2014/main" id="{86D1D483-091F-49C7-93D9-02DD598C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600450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020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찾다가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020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지친다</a:t>
            </a:r>
          </a:p>
        </p:txBody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B3E30FDA-3071-4E45-BE12-1783D8C7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24815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F6761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761"/>
                </a:solidFill>
                <a:latin typeface="Aptos"/>
                <a:ea typeface="Aptos"/>
                <a:cs typeface="Aptos"/>
              </a:rPr>
              <a:t>흩어진 정보 → 계획 피로</a:t>
            </a:r>
          </a:p>
        </p:txBody>
      </p:sp>
      <p:sp>
        <p:nvSpPr>
          <p:cNvPr id="24" name="02 evidence box">
            <a:extLst xmlns:a="http://schemas.openxmlformats.org/drawingml/2006/main">
              <a:ext uri="{FF2B5EF4-FFF2-40B4-BE49-F238E27FC236}">
                <a16:creationId xmlns:a16="http://schemas.microsoft.com/office/drawing/2014/main" id="{BACD9E1D-3C62-45F6-A5CA-6DCD01E9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781550"/>
            <a:ext cx="2838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2E8278EC-0AD7-4FB2-8A70-A302E2F80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895850"/>
            <a:ext cx="2533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1">
                <a:solidFill>
                  <a:srgbClr val="D84A0D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84A0D"/>
                </a:solidFill>
                <a:latin typeface="Aptos"/>
                <a:ea typeface="Aptos"/>
                <a:cs typeface="Aptos"/>
              </a:rPr>
              <a:t>여행 계획 이탈 사례</a:t>
            </a:r>
          </a:p>
        </p:txBody>
      </p:sp>
      <p:sp>
        <p:nvSpPr>
          <p:cNvPr id="26" name="02 solution chip">
            <a:extLst xmlns:a="http://schemas.openxmlformats.org/drawingml/2006/main">
              <a:ext uri="{FF2B5EF4-FFF2-40B4-BE49-F238E27FC236}">
                <a16:creationId xmlns:a16="http://schemas.microsoft.com/office/drawing/2014/main" id="{AF5E60EC-DB7C-4F46-80A0-4990A37B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181600"/>
            <a:ext cx="2838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E719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직사각형 26">
            <a:extLst xmlns:a="http://schemas.openxmlformats.org/drawingml/2006/main">
              <a:ext uri="{FF2B5EF4-FFF2-40B4-BE49-F238E27FC236}">
                <a16:creationId xmlns:a16="http://schemas.microsoft.com/office/drawing/2014/main" id="{3CADC2FF-C306-4E12-AECD-4F3D136A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5257800"/>
            <a:ext cx="2609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64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조건에서 일정까지</a:t>
            </a:r>
          </a:p>
        </p:txBody>
      </p:sp>
      <p:sp>
        <p:nvSpPr>
          <p:cNvPr id="28" name="03 card">
            <a:extLst xmlns:a="http://schemas.openxmlformats.org/drawingml/2006/main">
              <a:ext uri="{FF2B5EF4-FFF2-40B4-BE49-F238E27FC236}">
                <a16:creationId xmlns:a16="http://schemas.microsoft.com/office/drawing/2014/main" id="{57B12108-3878-48B1-B046-BEF4EF57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3295650" cy="3733800"/>
          </a:xfrm>
          <a:prstGeom xmlns:a="http://schemas.openxmlformats.org/drawingml/2006/main" prst="roundRect">
            <a:avLst>
              <a:gd name="adj" fmla="val 23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1CBB8"/>
            </a:solidFill>
            <a:prstDash val="solid"/>
          </a:ln>
        </p:spPr>
      </p:sp>
      <p:pic>
        <p:nvPicPr>
          <p:cNvPr id="101" name="그림 2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84b98043f48fa"/>
          <a:srcRect xmlns:a="http://schemas.openxmlformats.org/drawingml/2006/main" l="0" t="26320" r="0" b="263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1962150"/>
            <a:ext cx="3067050" cy="1162050"/>
          </a:xfrm>
          <a:prstGeom xmlns:a="http://schemas.openxmlformats.org/drawingml/2006/main" prst="rect">
            <a:avLst/>
          </a:prstGeom>
        </p:spPr>
      </p:pic>
      <p:sp>
        <p:nvSpPr>
          <p:cNvPr id="30" name="03 accent">
            <a:extLst xmlns:a="http://schemas.openxmlformats.org/drawingml/2006/main">
              <a:ext uri="{FF2B5EF4-FFF2-40B4-BE49-F238E27FC236}">
                <a16:creationId xmlns:a16="http://schemas.microsoft.com/office/drawing/2014/main" id="{479075DC-93AE-40F5-85CC-16BDB17B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24200"/>
            <a:ext cx="3067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직사각형 30">
            <a:extLst xmlns:a="http://schemas.openxmlformats.org/drawingml/2006/main">
              <a:ext uri="{FF2B5EF4-FFF2-40B4-BE49-F238E27FC236}">
                <a16:creationId xmlns:a16="http://schemas.microsoft.com/office/drawing/2014/main" id="{3684C11C-C937-4F8F-B3D3-3D847E80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52800"/>
            <a:ext cx="74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2E855B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2E855B"/>
                </a:solidFill>
                <a:latin typeface="Aptos Mono"/>
                <a:ea typeface="Aptos Mono"/>
                <a:cs typeface="Aptos Mono"/>
              </a:rPr>
              <a:t>문제 03</a:t>
            </a:r>
          </a:p>
        </p:txBody>
      </p:sp>
      <p:sp>
        <p:nvSpPr>
          <p:cNvPr id="32" name="직사각형 31">
            <a:extLst xmlns:a="http://schemas.openxmlformats.org/drawingml/2006/main">
              <a:ext uri="{FF2B5EF4-FFF2-40B4-BE49-F238E27FC236}">
                <a16:creationId xmlns:a16="http://schemas.microsoft.com/office/drawing/2014/main" id="{456B46A9-7611-4F95-8CE6-DB190C78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219450"/>
            <a:ext cx="2000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585" b="1">
                <a:solidFill>
                  <a:srgbClr val="A79A91"/>
                </a:solidFill>
                <a:latin typeface="Aptos Mono"/>
                <a:ea typeface="Aptos Mono"/>
                <a:cs typeface="Aptos Mono"/>
              </a:defRPr>
            </a:pPr>
            <a:r>
              <a:rPr sz="585" b="1">
                <a:solidFill>
                  <a:srgbClr val="A79A91"/>
                </a:solidFill>
                <a:latin typeface="Aptos Mono"/>
                <a:ea typeface="Aptos Mono"/>
                <a:cs typeface="Aptos Mono"/>
              </a:rPr>
              <a:t>Guardian</a:t>
            </a:r>
          </a:p>
        </p:txBody>
      </p:sp>
      <p:sp>
        <p:nvSpPr>
          <p:cNvPr id="33" name="직사각형 32">
            <a:extLst xmlns:a="http://schemas.openxmlformats.org/drawingml/2006/main">
              <a:ext uri="{FF2B5EF4-FFF2-40B4-BE49-F238E27FC236}">
                <a16:creationId xmlns:a16="http://schemas.microsoft.com/office/drawing/2014/main" id="{3D0F1371-7593-4665-8C97-6BF023F3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00450"/>
            <a:ext cx="283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020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추천은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020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02020"/>
                </a:solidFill>
                <a:latin typeface="Aptos"/>
                <a:ea typeface="Aptos"/>
                <a:cs typeface="Aptos"/>
              </a:rPr>
              <a:t>못 믿는다</a:t>
            </a:r>
          </a:p>
        </p:txBody>
      </p:sp>
      <p:sp>
        <p:nvSpPr>
          <p:cNvPr id="34" name="직사각형 33">
            <a:extLst xmlns:a="http://schemas.openxmlformats.org/drawingml/2006/main">
              <a:ext uri="{FF2B5EF4-FFF2-40B4-BE49-F238E27FC236}">
                <a16:creationId xmlns:a16="http://schemas.microsoft.com/office/drawing/2014/main" id="{50055C7E-3068-49C4-9C40-BF371BB1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48150"/>
            <a:ext cx="2838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F6761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F6761"/>
                </a:solidFill>
                <a:latin typeface="Aptos"/>
                <a:ea typeface="Aptos"/>
                <a:cs typeface="Aptos"/>
              </a:rPr>
              <a:t>AI 추천에도 근거 검증 필요</a:t>
            </a:r>
          </a:p>
        </p:txBody>
      </p:sp>
      <p:sp>
        <p:nvSpPr>
          <p:cNvPr id="35" name="03 evidence box">
            <a:extLst xmlns:a="http://schemas.openxmlformats.org/drawingml/2006/main">
              <a:ext uri="{FF2B5EF4-FFF2-40B4-BE49-F238E27FC236}">
                <a16:creationId xmlns:a16="http://schemas.microsoft.com/office/drawing/2014/main" id="{0ED7E043-19FF-4394-8CEF-E721DCE5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781550"/>
            <a:ext cx="28384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직사각형 35">
            <a:extLst xmlns:a="http://schemas.openxmlformats.org/drawingml/2006/main">
              <a:ext uri="{FF2B5EF4-FFF2-40B4-BE49-F238E27FC236}">
                <a16:creationId xmlns:a16="http://schemas.microsoft.com/office/drawing/2014/main" id="{5731E8B2-C03E-4911-AB90-B479F3D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895850"/>
            <a:ext cx="2533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60" b="1">
                <a:solidFill>
                  <a:srgbClr val="D84A0D"/>
                </a:solidFill>
                <a:latin typeface="Aptos"/>
                <a:ea typeface="Aptos"/>
                <a:cs typeface="Aptos"/>
              </a:defRPr>
            </a:pPr>
            <a:r>
              <a:rPr sz="660" b="1">
                <a:solidFill>
                  <a:srgbClr val="D84A0D"/>
                </a:solidFill>
                <a:latin typeface="Aptos"/>
                <a:ea typeface="Aptos"/>
                <a:cs typeface="Aptos"/>
              </a:rPr>
              <a:t>AI 여행 계획 신뢰 이슈</a:t>
            </a:r>
          </a:p>
        </p:txBody>
      </p:sp>
      <p:sp>
        <p:nvSpPr>
          <p:cNvPr id="37" name="03 solution chip">
            <a:extLst xmlns:a="http://schemas.openxmlformats.org/drawingml/2006/main">
              <a:ext uri="{FF2B5EF4-FFF2-40B4-BE49-F238E27FC236}">
                <a16:creationId xmlns:a16="http://schemas.microsoft.com/office/drawing/2014/main" id="{12F3137B-B5B4-41A6-97F4-5D8A4B4A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181600"/>
            <a:ext cx="28384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2E85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직사각형 37">
            <a:extLst xmlns:a="http://schemas.openxmlformats.org/drawingml/2006/main">
              <a:ext uri="{FF2B5EF4-FFF2-40B4-BE49-F238E27FC236}">
                <a16:creationId xmlns:a16="http://schemas.microsoft.com/office/drawing/2014/main" id="{F94938F4-8C51-45A6-A208-F50F3576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57800"/>
            <a:ext cx="26098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4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64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근거가 보이는 추천</a:t>
            </a:r>
          </a:p>
        </p:txBody>
      </p:sp>
      <p:sp>
        <p:nvSpPr>
          <p:cNvPr id="41" name="직사각형 40">
            <a:extLst xmlns:a="http://schemas.openxmlformats.org/drawingml/2006/main">
              <a:ext uri="{FF2B5EF4-FFF2-40B4-BE49-F238E27FC236}">
                <a16:creationId xmlns:a16="http://schemas.microsoft.com/office/drawing/2014/main" id="{805CAC2B-0C48-4ACA-B512-CEC16FCC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496050"/>
            <a:ext cx="47053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420" b="0">
                <a:solidFill>
                  <a:srgbClr val="9B8F87"/>
                </a:solidFill>
                <a:latin typeface="Aptos Mono"/>
                <a:ea typeface="Aptos Mono"/>
                <a:cs typeface="Aptos Mono"/>
              </a:defRPr>
            </a:pPr>
            <a:r>
              <a:rPr sz="420" b="0">
                <a:solidFill>
                  <a:srgbClr val="9B8F87"/>
                </a:solidFill>
                <a:latin typeface="Aptos Mono"/>
                <a:ea typeface="Aptos Mono"/>
                <a:cs typeface="Aptos Mono"/>
              </a:rPr>
              <a:t>출처: AP · news.com.au · Guardian</a:t>
            </a:r>
          </a:p>
        </p:txBody>
      </p:sp>
      <p:sp>
        <p:nvSpPr>
          <p:cNvPr id="50" name="조건 기반 목적지 탐색 overlay">
            <a:extLst xmlns:a="http://schemas.openxmlformats.org/drawingml/2006/main">
              <a:ext uri="{FF2B5EF4-FFF2-40B4-BE49-F238E27FC236}">
                <a16:creationId xmlns:a16="http://schemas.microsoft.com/office/drawing/2014/main" id="{198189C2-ECD1-499F-8988-3EC64060B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238500"/>
            <a:ext cx="306705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FFF8F1"/>
          </a:solidFill>
          <a:ln xmlns:a="http://schemas.openxmlformats.org/drawingml/2006/main" w="11430">
            <a:solidFill>
              <a:srgbClr val="F26518">
                <a:alpha val="7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1" name="조건 기반 목적지 탐색 accent">
            <a:extLst xmlns:a="http://schemas.openxmlformats.org/drawingml/2006/main">
              <a:ext uri="{FF2B5EF4-FFF2-40B4-BE49-F238E27FC236}">
                <a16:creationId xmlns:a16="http://schemas.microsoft.com/office/drawing/2014/main" id="{B25BF056-9C1F-4A26-84E1-99C1F3F8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371850"/>
            <a:ext cx="28384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6518"/>
          </a:solidFill>
          <a:ln xmlns:a="http://schemas.openxmlformats.org/drawingml/2006/main" w="11430">
            <a:solidFill>
              <a:srgbClr val="F26518">
                <a:alpha val="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2" name="조건 기반 목적지 탐색 tag">
            <a:extLst xmlns:a="http://schemas.openxmlformats.org/drawingml/2006/main">
              <a:ext uri="{FF2B5EF4-FFF2-40B4-BE49-F238E27FC236}">
                <a16:creationId xmlns:a16="http://schemas.microsoft.com/office/drawing/2014/main" id="{63E2580B-B530-4677-9344-A1C3B142B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581400"/>
            <a:ext cx="2609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문제</a:t>
            </a:r>
            <a:r>
              <a:rPr sz="82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 01 → </a:t>
            </a:r>
            <a:r>
              <a:rPr sz="82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소도시</a:t>
            </a:r>
            <a:r>
              <a:rPr sz="82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82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발견</a:t>
            </a:r>
          </a:p>
        </p:txBody>
      </p:sp>
      <p:sp>
        <p:nvSpPr>
          <p:cNvPr id="53" name="조건 기반 목적지 탐색 title">
            <a:extLst xmlns:a="http://schemas.openxmlformats.org/drawingml/2006/main">
              <a:ext uri="{FF2B5EF4-FFF2-40B4-BE49-F238E27FC236}">
                <a16:creationId xmlns:a16="http://schemas.microsoft.com/office/drawing/2014/main" id="{26D55030-DD79-4A6E-ABD3-800C3F5C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88620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조건 기반 목적지 탐색</a:t>
            </a:r>
          </a:p>
        </p:txBody>
      </p:sp>
      <p:sp>
        <p:nvSpPr>
          <p:cNvPr id="54" name="조건 기반 목적지 탐색 body">
            <a:extLst xmlns:a="http://schemas.openxmlformats.org/drawingml/2006/main">
              <a:ext uri="{FF2B5EF4-FFF2-40B4-BE49-F238E27FC236}">
                <a16:creationId xmlns:a16="http://schemas.microsoft.com/office/drawing/2014/main" id="{F835B103-0AED-4CC1-B73C-B79AF14B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35292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rPr>
              <a:t>조건만 입력하면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rPr>
              <a:t>소도시 후보를 찾습니다.</a:t>
            </a:r>
          </a:p>
        </p:txBody>
      </p:sp>
      <p:sp>
        <p:nvSpPr>
          <p:cNvPr id="55" name="조건 기반 목적지 탐색 footer">
            <a:extLst xmlns:a="http://schemas.openxmlformats.org/drawingml/2006/main">
              <a:ext uri="{FF2B5EF4-FFF2-40B4-BE49-F238E27FC236}">
                <a16:creationId xmlns:a16="http://schemas.microsoft.com/office/drawing/2014/main" id="{904A396A-6081-43D4-8F1A-C61B58A7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972050"/>
            <a:ext cx="2609850" cy="3048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26518">
              <a:alpha val="92000"/>
            </a:srgbClr>
          </a:solidFill>
          <a:ln xmlns:a="http://schemas.openxmlformats.org/drawingml/2006/main" w="11430">
            <a:solidFill>
              <a:srgbClr val="F26518">
                <a:alpha val="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" name="조건 기반 목적지 탐색 footer text">
            <a:extLst xmlns:a="http://schemas.openxmlformats.org/drawingml/2006/main">
              <a:ext uri="{FF2B5EF4-FFF2-40B4-BE49-F238E27FC236}">
                <a16:creationId xmlns:a16="http://schemas.microsoft.com/office/drawing/2014/main" id="{E6E91F98-6AB0-4E0A-B093-5C2FE4D3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" y="5057775"/>
            <a:ext cx="2419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Candidate Evidence Agent</a:t>
            </a:r>
          </a:p>
        </p:txBody>
      </p:sp>
      <p:sp>
        <p:nvSpPr>
          <p:cNvPr id="57" name="대화형 일정 정리 overlay">
            <a:extLst xmlns:a="http://schemas.openxmlformats.org/drawingml/2006/main">
              <a:ext uri="{FF2B5EF4-FFF2-40B4-BE49-F238E27FC236}">
                <a16:creationId xmlns:a16="http://schemas.microsoft.com/office/drawing/2014/main" id="{EFF869E5-4AB5-4306-B0BB-A8F4805E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219450"/>
            <a:ext cx="306705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FFF8F1"/>
          </a:solidFill>
          <a:ln xmlns:a="http://schemas.openxmlformats.org/drawingml/2006/main" w="11430">
            <a:solidFill>
              <a:srgbClr val="2F7DA0">
                <a:alpha val="7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8" name="대화형 일정 정리 accent">
            <a:extLst xmlns:a="http://schemas.openxmlformats.org/drawingml/2006/main">
              <a:ext uri="{FF2B5EF4-FFF2-40B4-BE49-F238E27FC236}">
                <a16:creationId xmlns:a16="http://schemas.microsoft.com/office/drawing/2014/main" id="{25EBC6F7-2C17-4E1C-B5FC-F658B533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352800"/>
            <a:ext cx="28384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A0"/>
          </a:solidFill>
          <a:ln xmlns:a="http://schemas.openxmlformats.org/drawingml/2006/main" w="11430">
            <a:solidFill>
              <a:srgbClr val="2F7DA0">
                <a:alpha val="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9" name="대화형 일정 정리 tag">
            <a:extLst xmlns:a="http://schemas.openxmlformats.org/drawingml/2006/main">
              <a:ext uri="{FF2B5EF4-FFF2-40B4-BE49-F238E27FC236}">
                <a16:creationId xmlns:a16="http://schemas.microsoft.com/office/drawing/2014/main" id="{DCEBBA03-ECA9-44FD-A8B4-91F405F2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62350"/>
            <a:ext cx="2609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F7DA0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2F7DA0"/>
                </a:solidFill>
                <a:latin typeface="Malgun Gothic"/>
                <a:ea typeface="Malgun Gothic"/>
                <a:cs typeface="Malgun Gothic"/>
              </a:rPr>
              <a:t>문제</a:t>
            </a:r>
            <a:r>
              <a:rPr sz="825" b="1">
                <a:solidFill>
                  <a:srgbClr val="2F7DA0"/>
                </a:solidFill>
                <a:latin typeface="Malgun Gothic"/>
                <a:ea typeface="Malgun Gothic"/>
                <a:cs typeface="Malgun Gothic"/>
              </a:rPr>
              <a:t> 02 → </a:t>
            </a:r>
            <a:r>
              <a:rPr sz="825" b="1">
                <a:solidFill>
                  <a:srgbClr val="2F7DA0"/>
                </a:solidFill>
                <a:latin typeface="Malgun Gothic"/>
                <a:ea typeface="Malgun Gothic"/>
                <a:cs typeface="Malgun Gothic"/>
              </a:rPr>
              <a:t>일정</a:t>
            </a:r>
            <a:r>
              <a:rPr sz="825" b="1">
                <a:solidFill>
                  <a:srgbClr val="2F7DA0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825" b="1">
                <a:solidFill>
                  <a:srgbClr val="2F7DA0"/>
                </a:solidFill>
                <a:latin typeface="Malgun Gothic"/>
                <a:ea typeface="Malgun Gothic"/>
                <a:cs typeface="Malgun Gothic"/>
              </a:rPr>
              <a:t>생성</a:t>
            </a:r>
          </a:p>
        </p:txBody>
      </p:sp>
      <p:sp>
        <p:nvSpPr>
          <p:cNvPr id="60" name="대화형 일정 정리 title">
            <a:extLst xmlns:a="http://schemas.openxmlformats.org/drawingml/2006/main">
              <a:ext uri="{FF2B5EF4-FFF2-40B4-BE49-F238E27FC236}">
                <a16:creationId xmlns:a16="http://schemas.microsoft.com/office/drawing/2014/main" id="{27515151-F6A9-4FB3-ABDB-960AB309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867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대화형</a:t>
            </a: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일정</a:t>
            </a: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정리</a:t>
            </a:r>
          </a:p>
        </p:txBody>
      </p:sp>
      <p:sp>
        <p:nvSpPr>
          <p:cNvPr id="61" name="대화형 일정 정리 body">
            <a:extLst xmlns:a="http://schemas.openxmlformats.org/drawingml/2006/main">
              <a:ext uri="{FF2B5EF4-FFF2-40B4-BE49-F238E27FC236}">
                <a16:creationId xmlns:a16="http://schemas.microsoft.com/office/drawing/2014/main" id="{D71F6BF2-5977-4799-849E-3FD69A7A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3338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rPr>
              <a:t>후보·축제·링크를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rPr>
              <a:t>일정으로 묶습니다.</a:t>
            </a:r>
          </a:p>
        </p:txBody>
      </p:sp>
      <p:sp>
        <p:nvSpPr>
          <p:cNvPr id="62" name="대화형 일정 정리 footer">
            <a:extLst xmlns:a="http://schemas.openxmlformats.org/drawingml/2006/main">
              <a:ext uri="{FF2B5EF4-FFF2-40B4-BE49-F238E27FC236}">
                <a16:creationId xmlns:a16="http://schemas.microsoft.com/office/drawing/2014/main" id="{60F46ED8-FE8C-44F9-80E2-089544661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953000"/>
            <a:ext cx="2609850" cy="3048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2F7DA0">
              <a:alpha val="92000"/>
            </a:srgbClr>
          </a:solidFill>
          <a:ln xmlns:a="http://schemas.openxmlformats.org/drawingml/2006/main" w="11430">
            <a:solidFill>
              <a:srgbClr val="2F7DA0">
                <a:alpha val="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63" name="대화형 일정 정리 footer text">
            <a:extLst xmlns:a="http://schemas.openxmlformats.org/drawingml/2006/main">
              <a:ext uri="{FF2B5EF4-FFF2-40B4-BE49-F238E27FC236}">
                <a16:creationId xmlns:a16="http://schemas.microsoft.com/office/drawing/2014/main" id="{B7D321E3-511F-4772-ABEF-8D3C416B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5038725"/>
            <a:ext cx="2419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Planner Agent</a:t>
            </a:r>
          </a:p>
        </p:txBody>
      </p:sp>
      <p:sp>
        <p:nvSpPr>
          <p:cNvPr id="64" name="추천 이유와 검증 노출 overlay">
            <a:extLst xmlns:a="http://schemas.openxmlformats.org/drawingml/2006/main">
              <a:ext uri="{FF2B5EF4-FFF2-40B4-BE49-F238E27FC236}">
                <a16:creationId xmlns:a16="http://schemas.microsoft.com/office/drawing/2014/main" id="{F2BA0CCE-6CE3-400E-8621-B9AF1B988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219450"/>
            <a:ext cx="3067050" cy="2228850"/>
          </a:xfrm>
          <a:prstGeom xmlns:a="http://schemas.openxmlformats.org/drawingml/2006/main" prst="roundRect">
            <a:avLst>
              <a:gd name="adj" fmla="val 4274"/>
            </a:avLst>
          </a:prstGeom>
          <a:solidFill xmlns:a="http://schemas.openxmlformats.org/drawingml/2006/main">
            <a:srgbClr val="FFF8F1"/>
          </a:solidFill>
          <a:ln xmlns:a="http://schemas.openxmlformats.org/drawingml/2006/main" w="11430">
            <a:solidFill>
              <a:srgbClr val="2E8B57">
                <a:alpha val="7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65" name="추천 이유와 검증 노출 accent">
            <a:extLst xmlns:a="http://schemas.openxmlformats.org/drawingml/2006/main">
              <a:ext uri="{FF2B5EF4-FFF2-40B4-BE49-F238E27FC236}">
                <a16:creationId xmlns:a16="http://schemas.microsoft.com/office/drawing/2014/main" id="{042E45E5-1B5F-419F-85AF-85EEC9F5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52800"/>
            <a:ext cx="283845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11430">
            <a:solidFill>
              <a:srgbClr val="2E8B57">
                <a:alpha val="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66" name="추천 이유와 검증 노출 tag">
            <a:extLst xmlns:a="http://schemas.openxmlformats.org/drawingml/2006/main">
              <a:ext uri="{FF2B5EF4-FFF2-40B4-BE49-F238E27FC236}">
                <a16:creationId xmlns:a16="http://schemas.microsoft.com/office/drawing/2014/main" id="{5591854D-C67E-46E0-AD89-04E3C4E3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62350"/>
            <a:ext cx="26098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E8B57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2E8B57"/>
                </a:solidFill>
                <a:latin typeface="Malgun Gothic"/>
                <a:ea typeface="Malgun Gothic"/>
                <a:cs typeface="Malgun Gothic"/>
              </a:rPr>
              <a:t>문제 03 → 근거 추천</a:t>
            </a:r>
          </a:p>
        </p:txBody>
      </p:sp>
      <p:sp>
        <p:nvSpPr>
          <p:cNvPr id="7" name="추천 이유와 검증 노출 title">
            <a:extLst xmlns:a="http://schemas.openxmlformats.org/drawingml/2006/main">
              <a:ext uri="{FF2B5EF4-FFF2-40B4-BE49-F238E27FC236}">
                <a16:creationId xmlns:a16="http://schemas.microsoft.com/office/drawing/2014/main" id="{B736FDAF-6EFB-45B8-9580-46D0FF155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67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추천 이유와 검증 노출</a:t>
            </a:r>
          </a:p>
        </p:txBody>
      </p:sp>
      <p:sp>
        <p:nvSpPr>
          <p:cNvPr id="68" name="추천 이유와 검증 노출 body">
            <a:extLst xmlns:a="http://schemas.openxmlformats.org/drawingml/2006/main">
              <a:ext uri="{FF2B5EF4-FFF2-40B4-BE49-F238E27FC236}">
                <a16:creationId xmlns:a16="http://schemas.microsoft.com/office/drawing/2014/main" id="{54F4C303-F431-4B4D-877A-62CC4A93C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33875"/>
            <a:ext cx="2609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rPr>
              <a:t>추천 이유·출처·검증을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4F4F4F"/>
                </a:solidFill>
                <a:latin typeface="Malgun Gothic"/>
                <a:ea typeface="Malgun Gothic"/>
                <a:cs typeface="Malgun Gothic"/>
              </a:rPr>
              <a:t>결과 카드에 표시합니다.</a:t>
            </a:r>
          </a:p>
        </p:txBody>
      </p:sp>
      <p:sp>
        <p:nvSpPr>
          <p:cNvPr id="69" name="추천 이유와 검증 노출 footer">
            <a:extLst xmlns:a="http://schemas.openxmlformats.org/drawingml/2006/main">
              <a:ext uri="{FF2B5EF4-FFF2-40B4-BE49-F238E27FC236}">
                <a16:creationId xmlns:a16="http://schemas.microsoft.com/office/drawing/2014/main" id="{7AD77A03-B8D6-4029-85E1-3022DCDB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609850" cy="3048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2E8B57">
              <a:alpha val="92000"/>
            </a:srgbClr>
          </a:solidFill>
          <a:ln xmlns:a="http://schemas.openxmlformats.org/drawingml/2006/main" w="11430">
            <a:solidFill>
              <a:srgbClr val="2E8B57">
                <a:alpha val="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70" name="추천 이유와 검증 노출 footer text">
            <a:extLst xmlns:a="http://schemas.openxmlformats.org/drawingml/2006/main">
              <a:ext uri="{FF2B5EF4-FFF2-40B4-BE49-F238E27FC236}">
                <a16:creationId xmlns:a16="http://schemas.microsoft.com/office/drawing/2014/main" id="{2E6BCC73-DBEF-41A3-9DC8-1CADBAA0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38725"/>
            <a:ext cx="24193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Explainable RAG</a:t>
            </a:r>
          </a:p>
        </p:txBody>
      </p:sp>
    </p:spTree>
    <p:extLst>
      <p:ext uri="{BB962C8B-B14F-4D97-AF65-F5344CB8AC3E}">
        <p14:creationId xmlns:p14="http://schemas.microsoft.com/office/powerpoint/2010/main" val="18034589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background">
            <a:extLst xmlns:a="http://schemas.openxmlformats.org/drawingml/2006/main">
              <a:ext uri="{FF2B5EF4-FFF2-40B4-BE49-F238E27FC236}">
                <a16:creationId xmlns:a16="http://schemas.microsoft.com/office/drawing/2014/main" id="{9B507E02-B1D4-4B4A-9A93-434D7F23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90B468DA-7939-4295-95FC-2EDC040B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SYSTEM ARCHITECTURE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6FDC563A-B530-4632-856E-B5FF44AF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00100"/>
            <a:ext cx="942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211815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211815"/>
                </a:solidFill>
                <a:latin typeface="Malgun Gothic"/>
                <a:ea typeface="Malgun Gothic"/>
                <a:cs typeface="Malgun Gothic"/>
              </a:rPr>
              <a:t>책임 경계로 나눕니다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C04D8252-9B12-4105-B47C-B23C2D45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572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6" name="Client Web lane">
            <a:extLst xmlns:a="http://schemas.openxmlformats.org/drawingml/2006/main">
              <a:ext uri="{FF2B5EF4-FFF2-40B4-BE49-F238E27FC236}">
                <a16:creationId xmlns:a16="http://schemas.microsoft.com/office/drawing/2014/main" id="{50D6398A-B53C-415F-AB04-AEEAA8D4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16479"/>
            <a:ext cx="1924050" cy="31623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CDBF"/>
            </a:solidFill>
            <a:prstDash val="solid"/>
          </a:ln>
        </p:spPr>
      </p:sp>
      <p:sp>
        <p:nvSpPr>
          <p:cNvPr id="7" name="Client Web accent">
            <a:extLst xmlns:a="http://schemas.openxmlformats.org/drawingml/2006/main">
              <a:ext uri="{FF2B5EF4-FFF2-40B4-BE49-F238E27FC236}">
                <a16:creationId xmlns:a16="http://schemas.microsoft.com/office/drawing/2014/main" id="{1D621A32-F5B6-4FCF-9982-847D4552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164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5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84B42A70-79FA-4BA0-9360-D2EA00FC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5079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Client Web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F4016ED3-8A30-4203-B4EE-26FB60CC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0829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2651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26518"/>
                </a:solidFill>
                <a:latin typeface="Aptos Mono"/>
                <a:ea typeface="Aptos Mono"/>
                <a:cs typeface="Aptos Mono"/>
              </a:rPr>
              <a:t>USER-FACING</a:t>
            </a:r>
          </a:p>
        </p:txBody>
      </p:sp>
      <p:sp>
        <p:nvSpPr>
          <p:cNvPr id="10" name="Backend API / SAM lane">
            <a:extLst xmlns:a="http://schemas.openxmlformats.org/drawingml/2006/main">
              <a:ext uri="{FF2B5EF4-FFF2-40B4-BE49-F238E27FC236}">
                <a16:creationId xmlns:a16="http://schemas.microsoft.com/office/drawing/2014/main" id="{BE6F6C31-917A-45F7-B29F-06368DF6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16479"/>
            <a:ext cx="1924050" cy="31623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CDBF"/>
            </a:solidFill>
            <a:prstDash val="solid"/>
          </a:ln>
        </p:spPr>
      </p:sp>
      <p:sp>
        <p:nvSpPr>
          <p:cNvPr id="11" name="Backend API / SAM accent">
            <a:extLst xmlns:a="http://schemas.openxmlformats.org/drawingml/2006/main">
              <a:ext uri="{FF2B5EF4-FFF2-40B4-BE49-F238E27FC236}">
                <a16:creationId xmlns:a16="http://schemas.microsoft.com/office/drawing/2014/main" id="{D63D66D9-A394-4CA2-BF35-A8D4B26C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164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E43DDBFC-920C-4193-8B62-7FFCB7FA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545079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Backend API / SAM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0954950B-58BD-4830-8DA7-ADE5DF55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30829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2D6A8E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2D6A8E"/>
                </a:solidFill>
                <a:latin typeface="Aptos Mono"/>
                <a:ea typeface="Aptos Mono"/>
                <a:cs typeface="Aptos Mono"/>
              </a:rPr>
              <a:t>BOUNDARY</a:t>
            </a:r>
          </a:p>
        </p:txBody>
      </p:sp>
      <p:sp>
        <p:nvSpPr>
          <p:cNvPr id="14" name="Agent Runtime lane">
            <a:extLst xmlns:a="http://schemas.openxmlformats.org/drawingml/2006/main">
              <a:ext uri="{FF2B5EF4-FFF2-40B4-BE49-F238E27FC236}">
                <a16:creationId xmlns:a16="http://schemas.microsoft.com/office/drawing/2014/main" id="{00369F21-6A1F-43FF-A079-D430ED4D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16479"/>
            <a:ext cx="1924050" cy="31623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CDBF"/>
            </a:solidFill>
            <a:prstDash val="solid"/>
          </a:ln>
        </p:spPr>
      </p:sp>
      <p:sp>
        <p:nvSpPr>
          <p:cNvPr id="15" name="Agent Runtime accent">
            <a:extLst xmlns:a="http://schemas.openxmlformats.org/drawingml/2006/main">
              <a:ext uri="{FF2B5EF4-FFF2-40B4-BE49-F238E27FC236}">
                <a16:creationId xmlns:a16="http://schemas.microsoft.com/office/drawing/2014/main" id="{DE7CD4ED-4EAB-49F1-B9AE-97515C80F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164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A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64AA3A00-FE6D-4F47-9BE6-317B5056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545079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Agent Runtime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AD0D2747-A2A3-405E-8951-A9AD915F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830829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LANGGRAPH</a:t>
            </a:r>
          </a:p>
        </p:txBody>
      </p:sp>
      <p:sp>
        <p:nvSpPr>
          <p:cNvPr id="18" name="Retrieval &amp; Data lane">
            <a:extLst xmlns:a="http://schemas.openxmlformats.org/drawingml/2006/main">
              <a:ext uri="{FF2B5EF4-FFF2-40B4-BE49-F238E27FC236}">
                <a16:creationId xmlns:a16="http://schemas.microsoft.com/office/drawing/2014/main" id="{BD862373-164F-4678-B4F5-5F6C1A7C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16479"/>
            <a:ext cx="1924050" cy="31623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CDBF"/>
            </a:solidFill>
            <a:prstDash val="solid"/>
          </a:ln>
        </p:spPr>
      </p:sp>
      <p:sp>
        <p:nvSpPr>
          <p:cNvPr id="19" name="Retrieval &amp; Data accent">
            <a:extLst xmlns:a="http://schemas.openxmlformats.org/drawingml/2006/main">
              <a:ext uri="{FF2B5EF4-FFF2-40B4-BE49-F238E27FC236}">
                <a16:creationId xmlns:a16="http://schemas.microsoft.com/office/drawing/2014/main" id="{6818656E-5CAF-4818-9D73-5410B0B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164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직사각형 19">
            <a:extLst xmlns:a="http://schemas.openxmlformats.org/drawingml/2006/main">
              <a:ext uri="{FF2B5EF4-FFF2-40B4-BE49-F238E27FC236}">
                <a16:creationId xmlns:a16="http://schemas.microsoft.com/office/drawing/2014/main" id="{AB086E9D-C2A7-45B1-874B-DA3C751A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45079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Retrieval &amp; Data</a:t>
            </a:r>
          </a:p>
        </p:txBody>
      </p:sp>
      <p:sp>
        <p:nvSpPr>
          <p:cNvPr id="21" name="직사각형 20">
            <a:extLst xmlns:a="http://schemas.openxmlformats.org/drawingml/2006/main">
              <a:ext uri="{FF2B5EF4-FFF2-40B4-BE49-F238E27FC236}">
                <a16:creationId xmlns:a16="http://schemas.microsoft.com/office/drawing/2014/main" id="{1F0A7965-705F-41E9-ACB1-3B70AB3A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30829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2F7D5B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2F7D5B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22" name="External APIs lane">
            <a:extLst xmlns:a="http://schemas.openxmlformats.org/drawingml/2006/main">
              <a:ext uri="{FF2B5EF4-FFF2-40B4-BE49-F238E27FC236}">
                <a16:creationId xmlns:a16="http://schemas.microsoft.com/office/drawing/2014/main" id="{A3FADC4B-A9F9-4205-8336-EAEF7799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16479"/>
            <a:ext cx="1924050" cy="3162300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9CDBF"/>
            </a:solidFill>
            <a:prstDash val="solid"/>
          </a:ln>
        </p:spPr>
      </p:sp>
      <p:sp>
        <p:nvSpPr>
          <p:cNvPr id="23" name="External APIs accent">
            <a:extLst xmlns:a="http://schemas.openxmlformats.org/drawingml/2006/main">
              <a:ext uri="{FF2B5EF4-FFF2-40B4-BE49-F238E27FC236}">
                <a16:creationId xmlns:a16="http://schemas.microsoft.com/office/drawing/2014/main" id="{97B16BAC-9B8E-4193-89E4-6D0E32AB5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3164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55D9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36FE48B5-E136-4792-B2B1-B1688149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45079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211815"/>
                </a:solidFill>
                <a:latin typeface="Aptos Display"/>
                <a:ea typeface="Aptos Display"/>
                <a:cs typeface="Aptos Display"/>
              </a:rPr>
              <a:t>External APIs</a:t>
            </a:r>
          </a:p>
        </p:txBody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F0C9634E-B8B6-4AB8-B92D-698E4653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30829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55D9B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55D9B"/>
                </a:solidFill>
                <a:latin typeface="Aptos Mono"/>
                <a:ea typeface="Aptos Mono"/>
                <a:cs typeface="Aptos Mono"/>
              </a:rPr>
              <a:t>DISPLAY / LINKS</a:t>
            </a:r>
          </a:p>
        </p:txBody>
      </p:sp>
      <p:sp>
        <p:nvSpPr>
          <p:cNvPr id="26" name="직사각형 25">
            <a:extLst xmlns:a="http://schemas.openxmlformats.org/drawingml/2006/main">
              <a:ext uri="{FF2B5EF4-FFF2-40B4-BE49-F238E27FC236}">
                <a16:creationId xmlns:a16="http://schemas.microsoft.com/office/drawing/2014/main" id="{214EF254-A2EF-423C-B151-985F76CE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45179"/>
            <a:ext cx="1619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rPr>
              <a:t>입력 · 지도 · 결과 표시</a:t>
            </a:r>
          </a:p>
        </p:txBody>
      </p:sp>
      <p:sp>
        <p:nvSpPr>
          <p:cNvPr id="27" name="직사각형 26">
            <a:extLst xmlns:a="http://schemas.openxmlformats.org/drawingml/2006/main">
              <a:ext uri="{FF2B5EF4-FFF2-40B4-BE49-F238E27FC236}">
                <a16:creationId xmlns:a16="http://schemas.microsoft.com/office/drawing/2014/main" id="{A193856E-6AF6-456D-A5BD-E12BB8C0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45179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rPr>
              <a:t>인증 · 검증 · 추천 실행</a:t>
            </a:r>
          </a:p>
        </p:txBody>
      </p:sp>
      <p:sp>
        <p:nvSpPr>
          <p:cNvPr id="28" name="직사각형 27">
            <a:extLst xmlns:a="http://schemas.openxmlformats.org/drawingml/2006/main">
              <a:ext uri="{FF2B5EF4-FFF2-40B4-BE49-F238E27FC236}">
                <a16:creationId xmlns:a16="http://schemas.microsoft.com/office/drawing/2014/main" id="{797FCD9B-F6E6-4AC3-9F19-02CD261E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45179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rPr>
              <a:t>검색 · 검증 · 일정 생성</a:t>
            </a:r>
          </a:p>
        </p:txBody>
      </p:sp>
      <p:sp>
        <p:nvSpPr>
          <p:cNvPr id="29" name="직사각형 28">
            <a:extLst xmlns:a="http://schemas.openxmlformats.org/drawingml/2006/main">
              <a:ext uri="{FF2B5EF4-FFF2-40B4-BE49-F238E27FC236}">
                <a16:creationId xmlns:a16="http://schemas.microsoft.com/office/drawing/2014/main" id="{800C5155-9489-40BA-A290-9F296A5A7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45179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rPr>
              <a:t>근거 후보 · 정규 상세 · 캐시</a:t>
            </a:r>
          </a:p>
        </p:txBody>
      </p:sp>
      <p:sp>
        <p:nvSpPr>
          <p:cNvPr id="30" name="직사각형 29">
            <a:extLst xmlns:a="http://schemas.openxmlformats.org/drawingml/2006/main">
              <a:ext uri="{FF2B5EF4-FFF2-40B4-BE49-F238E27FC236}">
                <a16:creationId xmlns:a16="http://schemas.microsoft.com/office/drawing/2014/main" id="{FDFEC5A7-6219-47C6-B108-99723DA3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345179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F5A4E"/>
                </a:solidFill>
                <a:latin typeface="Malgun Gothic"/>
                <a:ea typeface="Malgun Gothic"/>
                <a:cs typeface="Malgun Gothic"/>
              </a:rPr>
              <a:t>지도 · 날씨 · 딥링크</a:t>
            </a:r>
          </a:p>
        </p:txBody>
      </p:sp>
      <p:sp>
        <p:nvSpPr>
          <p:cNvPr id="31" name="직사각형 30">
            <a:extLst xmlns:a="http://schemas.openxmlformats.org/drawingml/2006/main">
              <a:ext uri="{FF2B5EF4-FFF2-40B4-BE49-F238E27FC236}">
                <a16:creationId xmlns:a16="http://schemas.microsoft.com/office/drawing/2014/main" id="{69C7081D-2BFD-4641-A413-2A3A8AFB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88079"/>
            <a:ext cx="30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2" name="직사각형 31">
            <a:extLst xmlns:a="http://schemas.openxmlformats.org/drawingml/2006/main">
              <a:ext uri="{FF2B5EF4-FFF2-40B4-BE49-F238E27FC236}">
                <a16:creationId xmlns:a16="http://schemas.microsoft.com/office/drawing/2014/main" id="{BE020582-0859-49E8-9A1C-70D5118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688079"/>
            <a:ext cx="30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3" name="직사각형 32">
            <a:extLst xmlns:a="http://schemas.openxmlformats.org/drawingml/2006/main">
              <a:ext uri="{FF2B5EF4-FFF2-40B4-BE49-F238E27FC236}">
                <a16:creationId xmlns:a16="http://schemas.microsoft.com/office/drawing/2014/main" id="{31BA79C4-5EA8-4F7C-A433-E41BFCEA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3688079"/>
            <a:ext cx="30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4" name="직사각형 33">
            <a:extLst xmlns:a="http://schemas.openxmlformats.org/drawingml/2006/main">
              <a:ext uri="{FF2B5EF4-FFF2-40B4-BE49-F238E27FC236}">
                <a16:creationId xmlns:a16="http://schemas.microsoft.com/office/drawing/2014/main" id="{71165559-5B6E-4F29-8482-9D407523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688079"/>
            <a:ext cx="304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5" name="validated request pill">
            <a:extLst xmlns:a="http://schemas.openxmlformats.org/drawingml/2006/main">
              <a:ext uri="{FF2B5EF4-FFF2-40B4-BE49-F238E27FC236}">
                <a16:creationId xmlns:a16="http://schemas.microsoft.com/office/drawing/2014/main" id="{AE704AB9-4AB7-4F16-9127-38923CE0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50129"/>
            <a:ext cx="15240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D6A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직사각형 35">
            <a:extLst xmlns:a="http://schemas.openxmlformats.org/drawingml/2006/main">
              <a:ext uri="{FF2B5EF4-FFF2-40B4-BE49-F238E27FC236}">
                <a16:creationId xmlns:a16="http://schemas.microsoft.com/office/drawing/2014/main" id="{C4D6E033-5E96-415D-BB2F-74A68831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907279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검증 요청</a:t>
            </a:r>
          </a:p>
        </p:txBody>
      </p:sp>
      <p:sp>
        <p:nvSpPr>
          <p:cNvPr id="37" name="candidate package pill">
            <a:extLst xmlns:a="http://schemas.openxmlformats.org/drawingml/2006/main">
              <a:ext uri="{FF2B5EF4-FFF2-40B4-BE49-F238E27FC236}">
                <a16:creationId xmlns:a16="http://schemas.microsoft.com/office/drawing/2014/main" id="{4C54C390-2E25-4A25-904B-389C4873E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850129"/>
            <a:ext cx="15240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D44A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직사각형 37">
            <a:extLst xmlns:a="http://schemas.openxmlformats.org/drawingml/2006/main">
              <a:ext uri="{FF2B5EF4-FFF2-40B4-BE49-F238E27FC236}">
                <a16:creationId xmlns:a16="http://schemas.microsoft.com/office/drawing/2014/main" id="{5BB3E217-6C5A-46C6-BBB9-6ACE9C66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907279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후보 패키지</a:t>
            </a:r>
          </a:p>
        </p:txBody>
      </p:sp>
      <p:sp>
        <p:nvSpPr>
          <p:cNvPr id="39" name="canonical detail pill">
            <a:extLst xmlns:a="http://schemas.openxmlformats.org/drawingml/2006/main">
              <a:ext uri="{FF2B5EF4-FFF2-40B4-BE49-F238E27FC236}">
                <a16:creationId xmlns:a16="http://schemas.microsoft.com/office/drawing/2014/main" id="{47175376-BB9E-4AA1-B022-E41E42E0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50129"/>
            <a:ext cx="15240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F7D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직사각형 39">
            <a:extLst xmlns:a="http://schemas.openxmlformats.org/drawingml/2006/main">
              <a:ext uri="{FF2B5EF4-FFF2-40B4-BE49-F238E27FC236}">
                <a16:creationId xmlns:a16="http://schemas.microsoft.com/office/drawing/2014/main" id="{55F21EFC-6B38-4C71-9E11-EE95571C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907279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정규 상세</a:t>
            </a:r>
          </a:p>
        </p:txBody>
      </p:sp>
    </p:spTree>
    <p:extLst>
      <p:ext uri="{BB962C8B-B14F-4D97-AF65-F5344CB8AC3E}">
        <p14:creationId xmlns:p14="http://schemas.microsoft.com/office/powerpoint/2010/main" val="109406953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ackground">
            <a:extLst xmlns:a="http://schemas.openxmlformats.org/drawingml/2006/main">
              <a:ext uri="{FF2B5EF4-FFF2-40B4-BE49-F238E27FC236}">
                <a16:creationId xmlns:a16="http://schemas.microsoft.com/office/drawing/2014/main" id="{E4054172-F835-4F59-A756-219856B9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2345F344-308F-4FD4-B845-425FFCA6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USER FLOW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B8DFF1D7-F309-407F-8859-A0F2702D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57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1060AB-F920-4FE2-8629-AA81A53D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28700"/>
            <a:ext cx="9525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도시를 몰라도 조건만 말하면 됩니다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DBD92F49-CE76-469C-BCC9-2BE788BB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430905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6" name="직사각형 5">
            <a:extLst xmlns:a="http://schemas.openxmlformats.org/drawingml/2006/main">
              <a:ext uri="{FF2B5EF4-FFF2-40B4-BE49-F238E27FC236}">
                <a16:creationId xmlns:a16="http://schemas.microsoft.com/office/drawing/2014/main" id="{F9B7E506-17A9-4611-8BD4-D5A95124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640455"/>
            <a:ext cx="428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775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C4A6EC59-CB37-4FDD-A0ED-B3D671EE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783330"/>
            <a:ext cx="1762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조건을 말한다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90A65F27-D5B7-480E-A1FF-37B87D72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183380"/>
            <a:ext cx="1762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일본 · 5월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조용한 바다 · 축제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62F81BAC-BA30-4A14-8AAC-E8F96B62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93573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23E50823-AB54-42B5-AD9A-0624B002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30905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1" name="직사각형 10">
            <a:extLst xmlns:a="http://schemas.openxmlformats.org/drawingml/2006/main">
              <a:ext uri="{FF2B5EF4-FFF2-40B4-BE49-F238E27FC236}">
                <a16:creationId xmlns:a16="http://schemas.microsoft.com/office/drawing/2014/main" id="{BCF5BF68-7D4F-4C30-AAD3-EFB119BC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640455"/>
            <a:ext cx="428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775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A9B2850C-BDEE-4042-9C19-B3B3BE44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78333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소도시를 받는다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177CD0F8-C1C3-43DF-B8EC-88A683FF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183380"/>
            <a:ext cx="180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추천 도시 1곳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이유 · 근거 뱃지</a:t>
            </a:r>
          </a:p>
        </p:txBody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FA5EB206-38B3-453B-811B-7F74C5F18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93573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8D8D4178-7866-4BD5-A30A-DFBFD595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430905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0827CD35-5D58-40E3-A012-8C837981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640455"/>
            <a:ext cx="428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775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A12EE5BA-C3BC-4E0E-ABA4-9EE536022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783330"/>
            <a:ext cx="1857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일정으로 실행한다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095B87BF-EFE4-417D-9564-4C68D85C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183380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오전/오후 일정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지도 · 상세 링크</a:t>
            </a:r>
          </a:p>
        </p:txBody>
      </p:sp>
    </p:spTree>
    <p:extLst>
      <p:ext uri="{BB962C8B-B14F-4D97-AF65-F5344CB8AC3E}">
        <p14:creationId xmlns:p14="http://schemas.microsoft.com/office/powerpoint/2010/main" val="26325872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background">
            <a:extLst xmlns:a="http://schemas.openxmlformats.org/drawingml/2006/main">
              <a:ext uri="{FF2B5EF4-FFF2-40B4-BE49-F238E27FC236}">
                <a16:creationId xmlns:a16="http://schemas.microsoft.com/office/drawing/2014/main" id="{43CFFC4E-1102-4784-8383-F48C8608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09D4D6AA-7683-48D9-B7C6-AB7A5870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AGENT ORCHESTRATION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CC19C4A9-2048-464E-828A-7891D5AB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334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Agent는 역할을 나누고 상태만 넘깁니다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055B4EB9-C2B1-4E3E-BEE3-23AF34D8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6" name="INPUT card">
            <a:extLst xmlns:a="http://schemas.openxmlformats.org/drawingml/2006/main">
              <a:ext uri="{FF2B5EF4-FFF2-40B4-BE49-F238E27FC236}">
                <a16:creationId xmlns:a16="http://schemas.microsoft.com/office/drawing/2014/main" id="{17C2023D-274A-4122-8476-EE586789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4579"/>
            <a:ext cx="1924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7" name="INPUT accent">
            <a:extLst xmlns:a="http://schemas.openxmlformats.org/drawingml/2006/main">
              <a:ext uri="{FF2B5EF4-FFF2-40B4-BE49-F238E27FC236}">
                <a16:creationId xmlns:a16="http://schemas.microsoft.com/office/drawing/2014/main" id="{86D7A7B2-3A16-4502-8CD4-331C4892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45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5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FB4AB450-0DC0-4868-BB35-9A858EC1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83179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26518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26518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CD501C1C-C70E-4BA0-AFB7-2C081CF8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40354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Intent Agent</a:t>
            </a: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6735B39E-8006-4135-9FF0-E30162B2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5629"/>
            <a:ext cx="1581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675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조건 구조화</a:t>
            </a:r>
          </a:p>
        </p:txBody>
      </p:sp>
      <p:sp>
        <p:nvSpPr>
          <p:cNvPr id="11" name="CONTROL card">
            <a:extLst xmlns:a="http://schemas.openxmlformats.org/drawingml/2006/main">
              <a:ext uri="{FF2B5EF4-FFF2-40B4-BE49-F238E27FC236}">
                <a16:creationId xmlns:a16="http://schemas.microsoft.com/office/drawing/2014/main" id="{1F981F8E-88B7-47C5-BA87-10A0001CE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54579"/>
            <a:ext cx="1924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2" name="CONTROL accent">
            <a:extLst xmlns:a="http://schemas.openxmlformats.org/drawingml/2006/main">
              <a:ext uri="{FF2B5EF4-FFF2-40B4-BE49-F238E27FC236}">
                <a16:creationId xmlns:a16="http://schemas.microsoft.com/office/drawing/2014/main" id="{6976089A-E199-40D8-85CA-13901A1C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545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3D23C32C-B82E-485A-8077-5C3E0E28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83179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2D6A8E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2D6A8E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2A8A7DE9-ECA4-4C12-82D1-540F0FAEC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40354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Supervisor</a:t>
            </a:r>
          </a:p>
        </p:txBody>
      </p:sp>
      <p:sp>
        <p:nvSpPr>
          <p:cNvPr id="15" name="직사각형 14">
            <a:extLst xmlns:a="http://schemas.openxmlformats.org/drawingml/2006/main">
              <a:ext uri="{FF2B5EF4-FFF2-40B4-BE49-F238E27FC236}">
                <a16:creationId xmlns:a16="http://schemas.microsoft.com/office/drawing/2014/main" id="{7BE2C90D-8C47-49C9-B5EA-D0E419F1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35629"/>
            <a:ext cx="1581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다음 단계 결정</a:t>
            </a:r>
          </a:p>
        </p:txBody>
      </p:sp>
      <p:sp>
        <p:nvSpPr>
          <p:cNvPr id="16" name="EVIDENCE card">
            <a:extLst xmlns:a="http://schemas.openxmlformats.org/drawingml/2006/main">
              <a:ext uri="{FF2B5EF4-FFF2-40B4-BE49-F238E27FC236}">
                <a16:creationId xmlns:a16="http://schemas.microsoft.com/office/drawing/2014/main" id="{91D7D0C6-BD10-4B58-8789-1E764D0C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54579"/>
            <a:ext cx="1924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7" name="EVIDENCE accent">
            <a:extLst xmlns:a="http://schemas.openxmlformats.org/drawingml/2006/main">
              <a:ext uri="{FF2B5EF4-FFF2-40B4-BE49-F238E27FC236}">
                <a16:creationId xmlns:a16="http://schemas.microsoft.com/office/drawing/2014/main" id="{B018AAD1-93AC-4C5E-99F8-820288B6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545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3EA74924-C0A1-48A7-9B5D-35517D7D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83179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2F7D5B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2F7D5B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19" name="직사각형 18">
            <a:extLst xmlns:a="http://schemas.openxmlformats.org/drawingml/2006/main">
              <a:ext uri="{FF2B5EF4-FFF2-40B4-BE49-F238E27FC236}">
                <a16:creationId xmlns:a16="http://schemas.microsoft.com/office/drawing/2014/main" id="{04432AC7-9583-4B06-9780-16C8D79D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40354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Candidate</a:t>
            </a:r>
          </a:p>
        </p:txBody>
      </p:sp>
      <p:sp>
        <p:nvSpPr>
          <p:cNvPr id="20" name="직사각형 19">
            <a:extLst xmlns:a="http://schemas.openxmlformats.org/drawingml/2006/main">
              <a:ext uri="{FF2B5EF4-FFF2-40B4-BE49-F238E27FC236}">
                <a16:creationId xmlns:a16="http://schemas.microsoft.com/office/drawing/2014/main" id="{EF984E25-1137-4FC5-8408-3791148F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35629"/>
            <a:ext cx="1581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후보 근거 생성</a:t>
            </a:r>
          </a:p>
        </p:txBody>
      </p:sp>
      <p:sp>
        <p:nvSpPr>
          <p:cNvPr id="21" name="VERIFY card">
            <a:extLst xmlns:a="http://schemas.openxmlformats.org/drawingml/2006/main">
              <a:ext uri="{FF2B5EF4-FFF2-40B4-BE49-F238E27FC236}">
                <a16:creationId xmlns:a16="http://schemas.microsoft.com/office/drawing/2014/main" id="{89031E2A-B55C-45CF-9A15-72113666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54579"/>
            <a:ext cx="1924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22" name="VERIFY accent">
            <a:extLst xmlns:a="http://schemas.openxmlformats.org/drawingml/2006/main">
              <a:ext uri="{FF2B5EF4-FFF2-40B4-BE49-F238E27FC236}">
                <a16:creationId xmlns:a16="http://schemas.microsoft.com/office/drawing/2014/main" id="{5C3B2A8F-FD8C-4EF0-809A-D52E6F2E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54579"/>
            <a:ext cx="19240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55D9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3F8BBB2E-0BB6-4476-B9F7-5E27BC99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83179"/>
            <a:ext cx="1581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855D9B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855D9B"/>
                </a:solidFill>
                <a:latin typeface="Aptos Mono"/>
                <a:ea typeface="Aptos Mono"/>
                <a:cs typeface="Aptos Mono"/>
              </a:rPr>
              <a:t>VERIFY</a:t>
            </a:r>
          </a:p>
        </p:txBody>
      </p:sp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F8B0C361-B22A-4F44-9B55-3EB9B080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40354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Festival</a:t>
            </a:r>
          </a:p>
        </p:txBody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F108AB47-589E-47E1-A889-73F6EE96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35629"/>
            <a:ext cx="15811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축제 검증</a:t>
            </a:r>
          </a:p>
        </p:txBody>
      </p:sp>
      <p:sp>
        <p:nvSpPr>
          <p:cNvPr id="26" name="OUTPUT card">
            <a:extLst xmlns:a="http://schemas.openxmlformats.org/drawingml/2006/main">
              <a:ext uri="{FF2B5EF4-FFF2-40B4-BE49-F238E27FC236}">
                <a16:creationId xmlns:a16="http://schemas.microsoft.com/office/drawing/2014/main" id="{CAC97A8B-E59D-4A0F-99B0-1431B55B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40529"/>
            <a:ext cx="4305300" cy="12954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27" name="OUTPUT accent">
            <a:extLst xmlns:a="http://schemas.openxmlformats.org/drawingml/2006/main">
              <a:ext uri="{FF2B5EF4-FFF2-40B4-BE49-F238E27FC236}">
                <a16:creationId xmlns:a16="http://schemas.microsoft.com/office/drawing/2014/main" id="{B9B38B7D-F6D0-431A-9D91-D53B5E27B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240529"/>
            <a:ext cx="4305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A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직사각형 27">
            <a:extLst xmlns:a="http://schemas.openxmlformats.org/drawingml/2006/main">
              <a:ext uri="{FF2B5EF4-FFF2-40B4-BE49-F238E27FC236}">
                <a16:creationId xmlns:a16="http://schemas.microsoft.com/office/drawing/2014/main" id="{B467B663-C24D-4211-B203-B6548DDD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69129"/>
            <a:ext cx="3962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OUTPUT</a:t>
            </a:r>
          </a:p>
        </p:txBody>
      </p:sp>
      <p:sp>
        <p:nvSpPr>
          <p:cNvPr id="29" name="직사각형 28">
            <a:extLst xmlns:a="http://schemas.openxmlformats.org/drawingml/2006/main">
              <a:ext uri="{FF2B5EF4-FFF2-40B4-BE49-F238E27FC236}">
                <a16:creationId xmlns:a16="http://schemas.microsoft.com/office/drawing/2014/main" id="{ADC57A68-B720-4F49-8BBC-A4FA7F9B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26304"/>
            <a:ext cx="3962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Planner Agent</a:t>
            </a:r>
          </a:p>
        </p:txBody>
      </p:sp>
      <p:sp>
        <p:nvSpPr>
          <p:cNvPr id="30" name="직사각형 29">
            <a:extLst xmlns:a="http://schemas.openxmlformats.org/drawingml/2006/main">
              <a:ext uri="{FF2B5EF4-FFF2-40B4-BE49-F238E27FC236}">
                <a16:creationId xmlns:a16="http://schemas.microsoft.com/office/drawing/2014/main" id="{A4352195-4EB4-4852-A6F5-67C40973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021579"/>
            <a:ext cx="3962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6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 생성</a:t>
            </a:r>
          </a:p>
        </p:txBody>
      </p:sp>
      <p:sp>
        <p:nvSpPr>
          <p:cNvPr id="31" name="직사각형 30">
            <a:extLst xmlns:a="http://schemas.openxmlformats.org/drawingml/2006/main">
              <a:ext uri="{FF2B5EF4-FFF2-40B4-BE49-F238E27FC236}">
                <a16:creationId xmlns:a16="http://schemas.microsoft.com/office/drawing/2014/main" id="{5C3D463E-5D89-4FCE-A589-724C40AF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07029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2" name="직사각형 31">
            <a:extLst xmlns:a="http://schemas.openxmlformats.org/drawingml/2006/main">
              <a:ext uri="{FF2B5EF4-FFF2-40B4-BE49-F238E27FC236}">
                <a16:creationId xmlns:a16="http://schemas.microsoft.com/office/drawing/2014/main" id="{4DF160D0-947C-4108-AB30-46205B25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07029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3" name="직사각형 32">
            <a:extLst xmlns:a="http://schemas.openxmlformats.org/drawingml/2006/main">
              <a:ext uri="{FF2B5EF4-FFF2-40B4-BE49-F238E27FC236}">
                <a16:creationId xmlns:a16="http://schemas.microsoft.com/office/drawing/2014/main" id="{0FA842E6-96DE-4432-9BD3-6E3836D9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07029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34" name="직사각형 33">
            <a:extLst xmlns:a="http://schemas.openxmlformats.org/drawingml/2006/main">
              <a:ext uri="{FF2B5EF4-FFF2-40B4-BE49-F238E27FC236}">
                <a16:creationId xmlns:a16="http://schemas.microsoft.com/office/drawing/2014/main" id="{2709EFDA-090D-45D6-A97B-9206696A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50004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↘</a:t>
            </a:r>
          </a:p>
        </p:txBody>
      </p:sp>
      <p:sp>
        <p:nvSpPr>
          <p:cNvPr id="35" name="직사각형 34">
            <a:extLst xmlns:a="http://schemas.openxmlformats.org/drawingml/2006/main">
              <a:ext uri="{FF2B5EF4-FFF2-40B4-BE49-F238E27FC236}">
                <a16:creationId xmlns:a16="http://schemas.microsoft.com/office/drawing/2014/main" id="{1DB35D7B-80C9-4118-A7D2-68CC412C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50004"/>
            <a:ext cx="400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↙</a:t>
            </a:r>
          </a:p>
        </p:txBody>
      </p:sp>
    </p:spTree>
    <p:extLst>
      <p:ext uri="{BB962C8B-B14F-4D97-AF65-F5344CB8AC3E}">
        <p14:creationId xmlns:p14="http://schemas.microsoft.com/office/powerpoint/2010/main" val="32035473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background">
            <a:extLst xmlns:a="http://schemas.openxmlformats.org/drawingml/2006/main">
              <a:ext uri="{FF2B5EF4-FFF2-40B4-BE49-F238E27FC236}">
                <a16:creationId xmlns:a16="http://schemas.microsoft.com/office/drawing/2014/main" id="{A170B536-0907-4A6A-AAEC-FE5C3A20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CD606BC1-3A7D-4BC0-9C98-D23A8572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CANDIDATE EVIDENCE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BE9FFB3F-C7F9-44BD-9D97-21B228CE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검색 결과를 근거 패키지로 압축합니다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71C2719A-39C2-4EAA-88F9-6956D5DF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6" name="input card">
            <a:extLst xmlns:a="http://schemas.openxmlformats.org/drawingml/2006/main">
              <a:ext uri="{FF2B5EF4-FFF2-40B4-BE49-F238E27FC236}">
                <a16:creationId xmlns:a16="http://schemas.microsoft.com/office/drawing/2014/main" id="{DE0227C4-C0F0-439A-A1EB-2932447B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35579"/>
            <a:ext cx="2400300" cy="241935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23525F2F-830C-4D79-BCAA-A76508D1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2754"/>
            <a:ext cx="149087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사용자 조건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661E1E13-99C9-46A4-BC68-A39EDD7A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11854"/>
            <a:ext cx="18859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국가 · 월 · 취향</a:t>
            </a:r>
          </a:p>
        </p:txBody>
      </p:sp>
      <p:sp>
        <p:nvSpPr>
          <p:cNvPr id="11" name="1. 검색 모드 step">
            <a:extLst xmlns:a="http://schemas.openxmlformats.org/drawingml/2006/main">
              <a:ext uri="{FF2B5EF4-FFF2-40B4-BE49-F238E27FC236}">
                <a16:creationId xmlns:a16="http://schemas.microsoft.com/office/drawing/2014/main" id="{55330A6D-DBD3-4063-B4FF-42CFEE23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64154"/>
            <a:ext cx="2019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2" name="1. 검색 모드 top">
            <a:extLst xmlns:a="http://schemas.openxmlformats.org/drawingml/2006/main">
              <a:ext uri="{FF2B5EF4-FFF2-40B4-BE49-F238E27FC236}">
                <a16:creationId xmlns:a16="http://schemas.microsoft.com/office/drawing/2014/main" id="{6010C5E4-E2D4-49C5-A70D-E1CA70F3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64154"/>
            <a:ext cx="2019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5318C136-E2EE-44B1-83A4-37B218ED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02279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1. 후보 검색</a:t>
            </a:r>
          </a:p>
        </p:txBody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ED0D4C5B-FA62-4E12-A918-04942007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316604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Vector + DB</a:t>
            </a:r>
          </a:p>
        </p:txBody>
      </p:sp>
      <p:sp>
        <p:nvSpPr>
          <p:cNvPr id="15" name="2. 후보 검색 step">
            <a:extLst xmlns:a="http://schemas.openxmlformats.org/drawingml/2006/main">
              <a:ext uri="{FF2B5EF4-FFF2-40B4-BE49-F238E27FC236}">
                <a16:creationId xmlns:a16="http://schemas.microsoft.com/office/drawing/2014/main" id="{3485FF4A-AD5C-4B24-9D6B-25B5149D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64154"/>
            <a:ext cx="2019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6" name="2. 후보 검색 top">
            <a:extLst xmlns:a="http://schemas.openxmlformats.org/drawingml/2006/main">
              <a:ext uri="{FF2B5EF4-FFF2-40B4-BE49-F238E27FC236}">
                <a16:creationId xmlns:a16="http://schemas.microsoft.com/office/drawing/2014/main" id="{E36D4C44-D282-46F2-B7D0-741DDBC5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64154"/>
            <a:ext cx="2019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5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34AB8B2F-7EA4-46B2-B5AD-940B4335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02279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2. 점수화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D79C2993-0FEC-4F8D-A30D-DF4E71F7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16604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테마 · 거리 · 혼잡</a:t>
            </a:r>
          </a:p>
        </p:txBody>
      </p:sp>
      <p:sp>
        <p:nvSpPr>
          <p:cNvPr id="19" name="3. 점수화 step">
            <a:extLst xmlns:a="http://schemas.openxmlformats.org/drawingml/2006/main">
              <a:ext uri="{FF2B5EF4-FFF2-40B4-BE49-F238E27FC236}">
                <a16:creationId xmlns:a16="http://schemas.microsoft.com/office/drawing/2014/main" id="{C2BD7CF4-808D-4B0C-B645-B7E9D131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97654"/>
            <a:ext cx="2019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20" name="3. 점수화 top">
            <a:extLst xmlns:a="http://schemas.openxmlformats.org/drawingml/2006/main">
              <a:ext uri="{FF2B5EF4-FFF2-40B4-BE49-F238E27FC236}">
                <a16:creationId xmlns:a16="http://schemas.microsoft.com/office/drawing/2014/main" id="{13377538-6658-47CF-AEB9-CE233518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97654"/>
            <a:ext cx="2019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직사각형 20">
            <a:extLst xmlns:a="http://schemas.openxmlformats.org/drawingml/2006/main">
              <a:ext uri="{FF2B5EF4-FFF2-40B4-BE49-F238E27FC236}">
                <a16:creationId xmlns:a16="http://schemas.microsoft.com/office/drawing/2014/main" id="{648C4CFF-92A8-4BA8-933A-399C7C118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35779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3. 근거 묶음</a:t>
            </a:r>
          </a:p>
        </p:txBody>
      </p:sp>
      <p:sp>
        <p:nvSpPr>
          <p:cNvPr id="22" name="직사각형 21">
            <a:extLst xmlns:a="http://schemas.openxmlformats.org/drawingml/2006/main">
              <a:ext uri="{FF2B5EF4-FFF2-40B4-BE49-F238E27FC236}">
                <a16:creationId xmlns:a16="http://schemas.microsoft.com/office/drawing/2014/main" id="{1397C5CB-107A-4E81-9924-D120B5A4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50104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선정 이유 정리</a:t>
            </a:r>
          </a:p>
        </p:txBody>
      </p:sp>
      <p:sp>
        <p:nvSpPr>
          <p:cNvPr id="23" name="4. rehydrate step">
            <a:extLst xmlns:a="http://schemas.openxmlformats.org/drawingml/2006/main">
              <a:ext uri="{FF2B5EF4-FFF2-40B4-BE49-F238E27FC236}">
                <a16:creationId xmlns:a16="http://schemas.microsoft.com/office/drawing/2014/main" id="{91D151CF-59FE-49A1-B50B-C9B65F35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97654"/>
            <a:ext cx="20193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24" name="4. rehydrate top">
            <a:extLst xmlns:a="http://schemas.openxmlformats.org/drawingml/2006/main">
              <a:ext uri="{FF2B5EF4-FFF2-40B4-BE49-F238E27FC236}">
                <a16:creationId xmlns:a16="http://schemas.microsoft.com/office/drawing/2014/main" id="{ADD93D01-8668-4C82-88C3-2ACAFBE4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097654"/>
            <a:ext cx="2019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4A1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1FAB2AFF-5696-4412-8187-F9C7A936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335779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4. 입력 고정</a:t>
            </a:r>
          </a:p>
        </p:txBody>
      </p:sp>
      <p:sp>
        <p:nvSpPr>
          <p:cNvPr id="26" name="직사각형 25">
            <a:extLst xmlns:a="http://schemas.openxmlformats.org/drawingml/2006/main">
              <a:ext uri="{FF2B5EF4-FFF2-40B4-BE49-F238E27FC236}">
                <a16:creationId xmlns:a16="http://schemas.microsoft.com/office/drawing/2014/main" id="{D0EB1090-67A4-45F3-B623-79DE1C529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650104"/>
            <a:ext cx="16764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Planner 입력 고정</a:t>
            </a:r>
          </a:p>
        </p:txBody>
      </p:sp>
      <p:sp>
        <p:nvSpPr>
          <p:cNvPr id="27" name="직사각형 26">
            <a:extLst xmlns:a="http://schemas.openxmlformats.org/drawingml/2006/main">
              <a:ext uri="{FF2B5EF4-FFF2-40B4-BE49-F238E27FC236}">
                <a16:creationId xmlns:a16="http://schemas.microsoft.com/office/drawing/2014/main" id="{E23A8714-D123-4247-AA1C-789733B8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1904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8" name="직사각형 27">
            <a:extLst xmlns:a="http://schemas.openxmlformats.org/drawingml/2006/main">
              <a:ext uri="{FF2B5EF4-FFF2-40B4-BE49-F238E27FC236}">
                <a16:creationId xmlns:a16="http://schemas.microsoft.com/office/drawing/2014/main" id="{1102671E-7C0F-4B1E-BDF5-7F1D994B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11904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9" name="package">
            <a:extLst xmlns:a="http://schemas.openxmlformats.org/drawingml/2006/main">
              <a:ext uri="{FF2B5EF4-FFF2-40B4-BE49-F238E27FC236}">
                <a16:creationId xmlns:a16="http://schemas.microsoft.com/office/drawing/2014/main" id="{91AB6FE2-EF73-4A79-82E8-068DA5ABA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35579"/>
            <a:ext cx="2857500" cy="2419350"/>
          </a:xfrm>
          <a:prstGeom xmlns:a="http://schemas.openxmlformats.org/drawingml/2006/main" prst="roundRect">
            <a:avLst>
              <a:gd name="adj" fmla="val 3150"/>
            </a:avLst>
          </a:prstGeom>
          <a:solidFill xmlns:a="http://schemas.openxmlformats.org/drawingml/2006/main">
            <a:srgbClr val="1F1F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직사각형 29">
            <a:extLst xmlns:a="http://schemas.openxmlformats.org/drawingml/2006/main">
              <a:ext uri="{FF2B5EF4-FFF2-40B4-BE49-F238E27FC236}">
                <a16:creationId xmlns:a16="http://schemas.microsoft.com/office/drawing/2014/main" id="{45F863D5-0D85-4A3F-8DFB-617D9478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92754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Evidence Package</a:t>
            </a:r>
          </a:p>
        </p:txBody>
      </p:sp>
      <p:sp>
        <p:nvSpPr>
          <p:cNvPr id="31" name="직사각형 30">
            <a:extLst xmlns:a="http://schemas.openxmlformats.org/drawingml/2006/main">
              <a:ext uri="{FF2B5EF4-FFF2-40B4-BE49-F238E27FC236}">
                <a16:creationId xmlns:a16="http://schemas.microsoft.com/office/drawing/2014/main" id="{9B62EC27-1216-47F8-909D-E7E4B603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430904"/>
            <a:ext cx="2286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rPr>
              <a:t>선택 도시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rPr>
              <a:t>추천 장소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rPr>
              <a:t>예비 후보</a:t>
            </a:r>
          </a:p>
          <a:p xmlns:a="http://schemas.openxmlformats.org/drawingml/2006/main">
            <a:pPr algn="l">
              <a:buNone/>
              <a:def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defRPr>
            </a:pPr>
            <a:r>
              <a:rPr sz="825" b="0">
                <a:solidFill>
                  <a:srgbClr val="F7D8C8"/>
                </a:solidFill>
                <a:latin typeface="Malgun Gothic"/>
                <a:ea typeface="Malgun Gothic"/>
                <a:cs typeface="Malgun Gothic"/>
              </a:rPr>
              <a:t>검증 로그</a:t>
            </a:r>
          </a:p>
        </p:txBody>
      </p:sp>
    </p:spTree>
    <p:extLst>
      <p:ext uri="{BB962C8B-B14F-4D97-AF65-F5344CB8AC3E}">
        <p14:creationId xmlns:p14="http://schemas.microsoft.com/office/powerpoint/2010/main" val="7153028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background">
            <a:extLst xmlns:a="http://schemas.openxmlformats.org/drawingml/2006/main">
              <a:ext uri="{FF2B5EF4-FFF2-40B4-BE49-F238E27FC236}">
                <a16:creationId xmlns:a16="http://schemas.microsoft.com/office/drawing/2014/main" id="{387E48BC-BA45-4C01-9403-9D15C471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D44FFF8E-B0DE-4A93-8DAC-463F4D46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295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PLANNER AGENT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7A00470D-1676-47C2-A89A-A7EC7DAF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42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Planner는 검증된 후보만 일정에 씁니다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C0C57F3A-EC81-4C4C-882D-0A9DF5CA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6" name="Input Contract box">
            <a:extLst xmlns:a="http://schemas.openxmlformats.org/drawingml/2006/main">
              <a:ext uri="{FF2B5EF4-FFF2-40B4-BE49-F238E27FC236}">
                <a16:creationId xmlns:a16="http://schemas.microsoft.com/office/drawing/2014/main" id="{5D3FFA56-2598-4114-A6E9-9EDC2A81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6004"/>
            <a:ext cx="2571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7" name="Input Contract accent">
            <a:extLst xmlns:a="http://schemas.openxmlformats.org/drawingml/2006/main">
              <a:ext uri="{FF2B5EF4-FFF2-40B4-BE49-F238E27FC236}">
                <a16:creationId xmlns:a16="http://schemas.microsoft.com/office/drawing/2014/main" id="{70262C0A-5DBA-405A-9FE2-46D1A497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6004"/>
            <a:ext cx="762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1288F93C-999B-42F4-AF71-513C4CDE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6504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후보 입력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7978D114-1B85-4918-9E12-C176EA3D7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9404"/>
            <a:ext cx="21717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도시 · 장소 · 축제</a:t>
            </a:r>
          </a:p>
        </p:txBody>
      </p:sp>
      <p:sp>
        <p:nvSpPr>
          <p:cNvPr id="10" name="Planner Work box">
            <a:extLst xmlns:a="http://schemas.openxmlformats.org/drawingml/2006/main">
              <a:ext uri="{FF2B5EF4-FFF2-40B4-BE49-F238E27FC236}">
                <a16:creationId xmlns:a16="http://schemas.microsoft.com/office/drawing/2014/main" id="{90084BD7-DDE4-46FB-88CA-AC4CEADA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26004"/>
            <a:ext cx="2571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1" name="Planner Work accent">
            <a:extLst xmlns:a="http://schemas.openxmlformats.org/drawingml/2006/main">
              <a:ext uri="{FF2B5EF4-FFF2-40B4-BE49-F238E27FC236}">
                <a16:creationId xmlns:a16="http://schemas.microsoft.com/office/drawing/2014/main" id="{902AFA02-CD49-4B68-9053-8451FA1B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26004"/>
            <a:ext cx="762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65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0885E8B5-8206-4D85-AD29-D009F655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516504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일정 배치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3DEC8C37-3C27-449D-BC9A-A9CA008B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859404"/>
            <a:ext cx="21717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시간대별 slot 구성</a:t>
            </a:r>
          </a:p>
        </p:txBody>
      </p:sp>
      <p:sp>
        <p:nvSpPr>
          <p:cNvPr id="14" name="Validation box">
            <a:extLst xmlns:a="http://schemas.openxmlformats.org/drawingml/2006/main">
              <a:ext uri="{FF2B5EF4-FFF2-40B4-BE49-F238E27FC236}">
                <a16:creationId xmlns:a16="http://schemas.microsoft.com/office/drawing/2014/main" id="{985F4BA9-49FC-447E-9DE9-A61CB5EF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6004"/>
            <a:ext cx="2571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5" name="Validation accent">
            <a:extLst xmlns:a="http://schemas.openxmlformats.org/drawingml/2006/main">
              <a:ext uri="{FF2B5EF4-FFF2-40B4-BE49-F238E27FC236}">
                <a16:creationId xmlns:a16="http://schemas.microsoft.com/office/drawing/2014/main" id="{C0AD5411-0518-4AAC-B8EC-B27B2922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26004"/>
            <a:ext cx="76200" cy="2457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8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ED23BBCD-0577-4BA9-99CA-8F990F7B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516504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6D973957-7389-4298-A7C7-57632873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59404"/>
            <a:ext cx="217170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750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후보 외 장소 · 축제 날짜 확인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BCD61104-5B95-4665-B1E1-0124A0F1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73754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직사각형 18">
            <a:extLst xmlns:a="http://schemas.openxmlformats.org/drawingml/2006/main">
              <a:ext uri="{FF2B5EF4-FFF2-40B4-BE49-F238E27FC236}">
                <a16:creationId xmlns:a16="http://schemas.microsoft.com/office/drawing/2014/main" id="{4CF7B3D6-78E1-4420-A05C-42C2FA8E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73754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0" name="직사각형 19">
            <a:extLst xmlns:a="http://schemas.openxmlformats.org/drawingml/2006/main">
              <a:ext uri="{FF2B5EF4-FFF2-40B4-BE49-F238E27FC236}">
                <a16:creationId xmlns:a16="http://schemas.microsoft.com/office/drawing/2014/main" id="{358B5551-BBA1-42A7-AF1C-900F3B8D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373754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1" name="output">
            <a:extLst xmlns:a="http://schemas.openxmlformats.org/drawingml/2006/main">
              <a:ext uri="{FF2B5EF4-FFF2-40B4-BE49-F238E27FC236}">
                <a16:creationId xmlns:a16="http://schemas.microsoft.com/office/drawing/2014/main" id="{36AD87B7-C7E7-4688-96E9-3A6EFB56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326004"/>
            <a:ext cx="1733550" cy="24574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1F1F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직사각형 21">
            <a:extLst xmlns:a="http://schemas.openxmlformats.org/drawingml/2006/main">
              <a:ext uri="{FF2B5EF4-FFF2-40B4-BE49-F238E27FC236}">
                <a16:creationId xmlns:a16="http://schemas.microsoft.com/office/drawing/2014/main" id="{A7A4E4B7-8CEF-4345-B264-DF98C130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54604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 출력</a:t>
            </a:r>
          </a:p>
        </p:txBody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7FF107F6-0EC1-4B2D-8896-33CF9443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11804"/>
            <a:ext cx="1333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rPr>
              <a:t>일정</a:t>
            </a:r>
          </a:p>
          <a:p xmlns:a="http://schemas.openxmlformats.org/drawingml/2006/main">
            <a:pPr algn="l">
              <a:buNone/>
              <a:def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rPr>
              <a:t>이유</a:t>
            </a:r>
          </a:p>
          <a:p xmlns:a="http://schemas.openxmlformats.org/drawingml/2006/main">
            <a:pPr algn="l">
              <a:buNone/>
              <a:def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rPr>
              <a:t>링크</a:t>
            </a:r>
          </a:p>
          <a:p xmlns:a="http://schemas.openxmlformats.org/drawingml/2006/main">
            <a:pPr algn="l">
              <a:buNone/>
              <a:def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defRPr>
            </a:pPr>
            <a:r>
              <a:rPr sz="750" b="0">
                <a:solidFill>
                  <a:srgbClr val="F7D8C8"/>
                </a:solidFill>
                <a:latin typeface="Aptos Mono"/>
                <a:ea typeface="Aptos Mono"/>
                <a:cs typeface="Aptos Mono"/>
              </a:rPr>
              <a:t>안내</a:t>
            </a:r>
          </a:p>
        </p:txBody>
      </p:sp>
      <p:sp>
        <p:nvSpPr>
          <p:cNvPr id="24" name="no new place check">
            <a:extLst xmlns:a="http://schemas.openxmlformats.org/drawingml/2006/main">
              <a:ext uri="{FF2B5EF4-FFF2-40B4-BE49-F238E27FC236}">
                <a16:creationId xmlns:a16="http://schemas.microsoft.com/office/drawing/2014/main" id="{D417BB62-975E-4E42-B918-BA6F5FA5B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40654"/>
            <a:ext cx="1962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9406969C-E984-4C8E-A1EE-2D21A0219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26379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후보 외 장소 금지</a:t>
            </a:r>
          </a:p>
        </p:txBody>
      </p:sp>
      <p:sp>
        <p:nvSpPr>
          <p:cNvPr id="26" name="foodSearch CTA check">
            <a:extLst xmlns:a="http://schemas.openxmlformats.org/drawingml/2006/main">
              <a:ext uri="{FF2B5EF4-FFF2-40B4-BE49-F238E27FC236}">
                <a16:creationId xmlns:a16="http://schemas.microsoft.com/office/drawing/2014/main" id="{3FF0E4F3-797E-414A-B112-1DE0865A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40654"/>
            <a:ext cx="1962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27" name="직사각형 26">
            <a:extLst xmlns:a="http://schemas.openxmlformats.org/drawingml/2006/main">
              <a:ext uri="{FF2B5EF4-FFF2-40B4-BE49-F238E27FC236}">
                <a16:creationId xmlns:a16="http://schemas.microsoft.com/office/drawing/2014/main" id="{EAABD714-4FA4-4073-8B75-9DD285FE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326379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식사 링크 안내</a:t>
            </a:r>
          </a:p>
        </p:txBody>
      </p:sp>
      <p:sp>
        <p:nvSpPr>
          <p:cNvPr id="28" name="confirmed festival only check">
            <a:extLst xmlns:a="http://schemas.openxmlformats.org/drawingml/2006/main">
              <a:ext uri="{FF2B5EF4-FFF2-40B4-BE49-F238E27FC236}">
                <a16:creationId xmlns:a16="http://schemas.microsoft.com/office/drawing/2014/main" id="{327115A7-033C-4A45-8062-47D9D3FA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5240654"/>
            <a:ext cx="1962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29" name="직사각형 28">
            <a:extLst xmlns:a="http://schemas.openxmlformats.org/drawingml/2006/main">
              <a:ext uri="{FF2B5EF4-FFF2-40B4-BE49-F238E27FC236}">
                <a16:creationId xmlns:a16="http://schemas.microsoft.com/office/drawing/2014/main" id="{6AFC61F8-D242-4F93-907C-49465A67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326379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검증된 축제만</a:t>
            </a:r>
          </a:p>
        </p:txBody>
      </p:sp>
      <p:sp>
        <p:nvSpPr>
          <p:cNvPr id="30" name="notice for limits check">
            <a:extLst xmlns:a="http://schemas.openxmlformats.org/drawingml/2006/main">
              <a:ext uri="{FF2B5EF4-FFF2-40B4-BE49-F238E27FC236}">
                <a16:creationId xmlns:a16="http://schemas.microsoft.com/office/drawing/2014/main" id="{E21EF771-6119-4BFC-B707-71201C56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40654"/>
            <a:ext cx="1962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31" name="직사각형 30">
            <a:extLst xmlns:a="http://schemas.openxmlformats.org/drawingml/2006/main">
              <a:ext uri="{FF2B5EF4-FFF2-40B4-BE49-F238E27FC236}">
                <a16:creationId xmlns:a16="http://schemas.microsoft.com/office/drawing/2014/main" id="{9A5BCBC4-2BCA-4388-8ADF-DB22ACEF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326379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한계 안내</a:t>
            </a:r>
          </a:p>
        </p:txBody>
      </p:sp>
      <p:sp>
        <p:nvSpPr>
          <p:cNvPr id="32" name="fallback on repeat fail check">
            <a:extLst xmlns:a="http://schemas.openxmlformats.org/drawingml/2006/main">
              <a:ext uri="{FF2B5EF4-FFF2-40B4-BE49-F238E27FC236}">
                <a16:creationId xmlns:a16="http://schemas.microsoft.com/office/drawing/2014/main" id="{9A8E5554-8CA3-4CE9-B741-FBBF0656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240654"/>
            <a:ext cx="1962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0E7"/>
          </a:solidFill>
          <a:ln xmlns:a="http://schemas.openxmlformats.org/drawingml/2006/main" w="9525">
            <a:solidFill>
              <a:srgbClr val="F0CDBB"/>
            </a:solidFill>
            <a:prstDash val="solid"/>
          </a:ln>
        </p:spPr>
      </p:sp>
      <p:sp>
        <p:nvSpPr>
          <p:cNvPr id="33" name="직사각형 32">
            <a:extLst xmlns:a="http://schemas.openxmlformats.org/drawingml/2006/main">
              <a:ext uri="{FF2B5EF4-FFF2-40B4-BE49-F238E27FC236}">
                <a16:creationId xmlns:a16="http://schemas.microsoft.com/office/drawing/2014/main" id="{64292981-910F-4D0A-B820-9C1D6EE51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326379"/>
            <a:ext cx="17335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실패 시 축소</a:t>
            </a:r>
          </a:p>
        </p:txBody>
      </p:sp>
    </p:spTree>
    <p:extLst>
      <p:ext uri="{BB962C8B-B14F-4D97-AF65-F5344CB8AC3E}">
        <p14:creationId xmlns:p14="http://schemas.microsoft.com/office/powerpoint/2010/main" val="177860931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background">
            <a:extLst xmlns:a="http://schemas.openxmlformats.org/drawingml/2006/main">
              <a:ext uri="{FF2B5EF4-FFF2-40B4-BE49-F238E27FC236}">
                <a16:creationId xmlns:a16="http://schemas.microsoft.com/office/drawing/2014/main" id="{9FF6D6F5-6F70-4A74-8EFB-C777D56E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A5758B4A-2DC8-43ED-83FA-EE90A500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DATA · 취득 데이터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BFA36DFA-3D9F-4877-ABF0-EC7D86AA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57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44221F-459B-403E-BB9B-316C3947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906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추천에 필요한 데이터만 구조화합니다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1079B144-7325-4641-B71E-692AD0ED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26017"/>
            <a:ext cx="9953625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1F1F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직사각형 5">
            <a:extLst xmlns:a="http://schemas.openxmlformats.org/drawingml/2006/main">
              <a:ext uri="{FF2B5EF4-FFF2-40B4-BE49-F238E27FC236}">
                <a16:creationId xmlns:a16="http://schemas.microsoft.com/office/drawing/2014/main" id="{2E9FBB64-919E-44B2-82BC-6DF38FE1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616517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40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A9DE13CF-0C96-490E-88BD-569AA78F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16567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rPr>
              <a:t>한국 도시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588EC15B-4FBA-43E5-95DF-C592EF34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16517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3,709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E137C27A-7BCF-4746-A569-65D9EFAB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16567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rPr>
              <a:t>관광지</a:t>
            </a: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729F6E25-B3A2-48A4-BBFB-B913120F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616517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106</a:t>
            </a:r>
          </a:p>
        </p:txBody>
      </p:sp>
      <p:sp>
        <p:nvSpPr>
          <p:cNvPr id="11" name="직사각형 10">
            <a:extLst xmlns:a="http://schemas.openxmlformats.org/drawingml/2006/main">
              <a:ext uri="{FF2B5EF4-FFF2-40B4-BE49-F238E27FC236}">
                <a16:creationId xmlns:a16="http://schemas.microsoft.com/office/drawing/2014/main" id="{66CA975D-EB7F-4A32-B08F-D48CB7F0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016567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rPr>
              <a:t>축제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EE7F3B23-0DEF-4EF0-96B6-6627BE47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16517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26518"/>
                </a:solidFill>
                <a:latin typeface="Malgun Gothic"/>
                <a:ea typeface="Malgun Gothic"/>
                <a:cs typeface="Malgun Gothic"/>
              </a:rPr>
              <a:t>40×12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171F5DB8-8257-4780-9AF5-471239F1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16567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defRPr>
            </a:pPr>
            <a:r>
              <a:rPr sz="900" b="1">
                <a:solidFill>
                  <a:srgbClr val="F3D7C4"/>
                </a:solidFill>
                <a:latin typeface="Malgun Gothic"/>
                <a:ea typeface="Malgun Gothic"/>
                <a:cs typeface="Malgun Gothic"/>
              </a:rPr>
              <a:t>월별 방문객</a:t>
            </a:r>
          </a:p>
        </p:txBody>
      </p:sp>
      <p:sp>
        <p:nvSpPr>
          <p:cNvPr id="14" name="card">
            <a:extLst xmlns:a="http://schemas.openxmlformats.org/drawingml/2006/main">
              <a:ext uri="{FF2B5EF4-FFF2-40B4-BE49-F238E27FC236}">
                <a16:creationId xmlns:a16="http://schemas.microsoft.com/office/drawing/2014/main" id="{56A94F8B-AB48-4309-9C2C-313789409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30942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5" name="직사각형 14">
            <a:extLst xmlns:a="http://schemas.openxmlformats.org/drawingml/2006/main">
              <a:ext uri="{FF2B5EF4-FFF2-40B4-BE49-F238E27FC236}">
                <a16:creationId xmlns:a16="http://schemas.microsoft.com/office/drawing/2014/main" id="{BEFD9AC1-7D39-4822-8A81-54ACA390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50017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한국</a:t>
            </a:r>
          </a:p>
        </p:txBody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DD840BAF-6FDA-42B3-BAFD-CE6406E0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78642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SOURCE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30C172AF-7FFF-431D-882F-96B2D5AD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78667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TourAPI · DataLab ·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Wikipedia · 기상청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652C06AC-FD1E-44F3-AEED-DB33BD99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02542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활용</a:t>
            </a:r>
          </a:p>
        </p:txBody>
      </p:sp>
      <p:sp>
        <p:nvSpPr>
          <p:cNvPr id="19" name="직사각형 18">
            <a:extLst xmlns:a="http://schemas.openxmlformats.org/drawingml/2006/main">
              <a:ext uri="{FF2B5EF4-FFF2-40B4-BE49-F238E27FC236}">
                <a16:creationId xmlns:a16="http://schemas.microsoft.com/office/drawing/2014/main" id="{F7198942-1F15-4FF6-9549-CBA6AAA2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02567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후보 · 테마 ·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월별 보정</a:t>
            </a:r>
          </a:p>
        </p:txBody>
      </p:sp>
      <p:sp>
        <p:nvSpPr>
          <p:cNvPr id="20" name="card">
            <a:extLst xmlns:a="http://schemas.openxmlformats.org/drawingml/2006/main">
              <a:ext uri="{FF2B5EF4-FFF2-40B4-BE49-F238E27FC236}">
                <a16:creationId xmlns:a16="http://schemas.microsoft.com/office/drawing/2014/main" id="{E3B82A1F-F04A-4C7B-9C38-F75C78AA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0942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21" name="직사각형 20">
            <a:extLst xmlns:a="http://schemas.openxmlformats.org/drawingml/2006/main">
              <a:ext uri="{FF2B5EF4-FFF2-40B4-BE49-F238E27FC236}">
                <a16:creationId xmlns:a16="http://schemas.microsoft.com/office/drawing/2014/main" id="{BFBAF37E-5E2B-4394-B0AC-6A944780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950017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일본</a:t>
            </a:r>
          </a:p>
        </p:txBody>
      </p:sp>
      <p:sp>
        <p:nvSpPr>
          <p:cNvPr id="22" name="직사각형 21">
            <a:extLst xmlns:a="http://schemas.openxmlformats.org/drawingml/2006/main">
              <a:ext uri="{FF2B5EF4-FFF2-40B4-BE49-F238E27FC236}">
                <a16:creationId xmlns:a16="http://schemas.microsoft.com/office/drawing/2014/main" id="{493A50EC-4EA4-483A-8D17-73C34C5E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78642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SOURCE</a:t>
            </a:r>
          </a:p>
        </p:txBody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1E77E42A-34F3-4B8D-A06E-DF80B0A7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578667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Wikipedia · JNTO/JTA ·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e-Stat · RESAS · JMA</a:t>
            </a:r>
          </a:p>
        </p:txBody>
      </p:sp>
      <p:sp>
        <p:nvSpPr>
          <p:cNvPr id="24" name="직사각형 23">
            <a:extLst xmlns:a="http://schemas.openxmlformats.org/drawingml/2006/main">
              <a:ext uri="{FF2B5EF4-FFF2-40B4-BE49-F238E27FC236}">
                <a16:creationId xmlns:a16="http://schemas.microsoft.com/office/drawing/2014/main" id="{3DE15079-3FD7-4312-BCC7-3DE1984D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02542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활용</a:t>
            </a:r>
          </a:p>
        </p:txBody>
      </p:sp>
      <p:sp>
        <p:nvSpPr>
          <p:cNvPr id="25" name="직사각형 24">
            <a:extLst xmlns:a="http://schemas.openxmlformats.org/drawingml/2006/main">
              <a:ext uri="{FF2B5EF4-FFF2-40B4-BE49-F238E27FC236}">
                <a16:creationId xmlns:a16="http://schemas.microsoft.com/office/drawing/2014/main" id="{B2506A29-7AD9-4A15-9877-5522BC95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02567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공통 구조 ·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계절 근거</a:t>
            </a:r>
          </a:p>
        </p:txBody>
      </p:sp>
      <p:sp>
        <p:nvSpPr>
          <p:cNvPr id="26" name="card">
            <a:extLst xmlns:a="http://schemas.openxmlformats.org/drawingml/2006/main">
              <a:ext uri="{FF2B5EF4-FFF2-40B4-BE49-F238E27FC236}">
                <a16:creationId xmlns:a16="http://schemas.microsoft.com/office/drawing/2014/main" id="{3EC96F81-C99B-4D0E-B8AD-FAA86652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30942"/>
            <a:ext cx="30480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27" name="직사각형 26">
            <a:extLst xmlns:a="http://schemas.openxmlformats.org/drawingml/2006/main">
              <a:ext uri="{FF2B5EF4-FFF2-40B4-BE49-F238E27FC236}">
                <a16:creationId xmlns:a16="http://schemas.microsoft.com/office/drawing/2014/main" id="{B248338C-2E47-45F8-8E8C-DC432AE5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50017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공통 운영</a:t>
            </a:r>
          </a:p>
        </p:txBody>
      </p:sp>
      <p:sp>
        <p:nvSpPr>
          <p:cNvPr id="28" name="직사각형 27">
            <a:extLst xmlns:a="http://schemas.openxmlformats.org/drawingml/2006/main">
              <a:ext uri="{FF2B5EF4-FFF2-40B4-BE49-F238E27FC236}">
                <a16:creationId xmlns:a16="http://schemas.microsoft.com/office/drawing/2014/main" id="{2CEE269E-64E3-4E24-9F07-244FECA5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78642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PIPELINE</a:t>
            </a:r>
          </a:p>
        </p:txBody>
      </p:sp>
      <p:sp>
        <p:nvSpPr>
          <p:cNvPr id="29" name="직사각형 28">
            <a:extLst xmlns:a="http://schemas.openxmlformats.org/drawingml/2006/main">
              <a:ext uri="{FF2B5EF4-FFF2-40B4-BE49-F238E27FC236}">
                <a16:creationId xmlns:a16="http://schemas.microsoft.com/office/drawing/2014/main" id="{0F792E8E-EAD6-4358-976C-314F4AAF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78667"/>
            <a:ext cx="24765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S3 Raw · Lambda ·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DynamoDB · S3 vector</a:t>
            </a:r>
          </a:p>
        </p:txBody>
      </p:sp>
      <p:sp>
        <p:nvSpPr>
          <p:cNvPr id="30" name="직사각형 29">
            <a:extLst xmlns:a="http://schemas.openxmlformats.org/drawingml/2006/main">
              <a:ext uri="{FF2B5EF4-FFF2-40B4-BE49-F238E27FC236}">
                <a16:creationId xmlns:a16="http://schemas.microsoft.com/office/drawing/2014/main" id="{C265C983-49BE-4B07-BB5E-64FB4B5B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02542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보장</a:t>
            </a:r>
          </a:p>
        </p:txBody>
      </p:sp>
      <p:sp>
        <p:nvSpPr>
          <p:cNvPr id="31" name="직사각형 30">
            <a:extLst xmlns:a="http://schemas.openxmlformats.org/drawingml/2006/main">
              <a:ext uri="{FF2B5EF4-FFF2-40B4-BE49-F238E27FC236}">
                <a16:creationId xmlns:a16="http://schemas.microsoft.com/office/drawing/2014/main" id="{E52BC201-F32A-445A-95EA-CAB94737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02567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출처 · 최신성 ·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재처리</a:t>
            </a:r>
          </a:p>
        </p:txBody>
      </p:sp>
    </p:spTree>
    <p:extLst>
      <p:ext uri="{BB962C8B-B14F-4D97-AF65-F5344CB8AC3E}">
        <p14:creationId xmlns:p14="http://schemas.microsoft.com/office/powerpoint/2010/main" val="20203303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background">
            <a:extLst xmlns:a="http://schemas.openxmlformats.org/drawingml/2006/main">
              <a:ext uri="{FF2B5EF4-FFF2-40B4-BE49-F238E27FC236}">
                <a16:creationId xmlns:a16="http://schemas.microsoft.com/office/drawing/2014/main" id="{9134312C-BA79-43B5-8346-E050FE35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E8BEBC9B-0EE9-49E5-8439-236C0F75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DEMO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C379ED5A-1F40-4990-AE56-E3A27842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57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3D65742-0BFC-4CA9-B5A3-61C714D71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66800"/>
            <a:ext cx="7620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조건 입력에서 근거 있는 일정까지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1719D6CF-97FD-434E-86C3-F6611614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7580"/>
            <a:ext cx="22383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6" name="직사각형 5">
            <a:extLst xmlns:a="http://schemas.openxmlformats.org/drawingml/2006/main">
              <a:ext uri="{FF2B5EF4-FFF2-40B4-BE49-F238E27FC236}">
                <a16:creationId xmlns:a16="http://schemas.microsoft.com/office/drawing/2014/main" id="{15A24F56-2F79-4710-A167-11F1E8F9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35705"/>
            <a:ext cx="428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B5D47776-5C31-46C2-AAD1-D71977F9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7858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4756E2C6-5742-4A3F-AF75-FC70325B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278630"/>
            <a:ext cx="1219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국가 · 시기 · 취향</a:t>
            </a:r>
          </a:p>
        </p:txBody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A17CDECD-4B39-4AD8-93DA-C4BA879D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96430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147597F2-BF42-40C9-BC94-53E92FB0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97580"/>
            <a:ext cx="22383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1" name="직사각형 10">
            <a:extLst xmlns:a="http://schemas.openxmlformats.org/drawingml/2006/main">
              <a:ext uri="{FF2B5EF4-FFF2-40B4-BE49-F238E27FC236}">
                <a16:creationId xmlns:a16="http://schemas.microsoft.com/office/drawing/2014/main" id="{CC3CED87-7BE0-4FA9-B39F-5B3184D3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35705"/>
            <a:ext cx="428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207E85A8-1C0C-48B2-8622-9B4014E2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7858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추천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0576E36A-2D15-4084-9BFE-F0EA36EE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199" y="4278630"/>
            <a:ext cx="127883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소도시 선정· 추천 이유</a:t>
            </a:r>
          </a:p>
        </p:txBody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14EF4BC3-C927-4E8B-8D46-22014C14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64305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C9AB9A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47AAB4B6-C4AD-44B0-B4DF-C7D52A0C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97580"/>
            <a:ext cx="2238375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F1748D5E-6667-43D3-BB1C-A8D831D8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35705"/>
            <a:ext cx="428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7" name="직사각형 16">
            <a:extLst xmlns:a="http://schemas.openxmlformats.org/drawingml/2006/main">
              <a:ext uri="{FF2B5EF4-FFF2-40B4-BE49-F238E27FC236}">
                <a16:creationId xmlns:a16="http://schemas.microsoft.com/office/drawing/2014/main" id="{D04346C6-3ABB-4CAC-83EC-3EE7A56F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87858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8" name="직사각형 17">
            <a:extLst xmlns:a="http://schemas.openxmlformats.org/drawingml/2006/main">
              <a:ext uri="{FF2B5EF4-FFF2-40B4-BE49-F238E27FC236}">
                <a16:creationId xmlns:a16="http://schemas.microsoft.com/office/drawing/2014/main" id="{337BF8F0-CC8D-4D71-9929-A89063AB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78630"/>
            <a:ext cx="1219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일정 · 지도 · 상세 이동</a:t>
            </a:r>
          </a:p>
        </p:txBody>
      </p:sp>
    </p:spTree>
    <p:extLst>
      <p:ext uri="{BB962C8B-B14F-4D97-AF65-F5344CB8AC3E}">
        <p14:creationId xmlns:p14="http://schemas.microsoft.com/office/powerpoint/2010/main" val="124394960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background">
            <a:extLst xmlns:a="http://schemas.openxmlformats.org/drawingml/2006/main">
              <a:ext uri="{FF2B5EF4-FFF2-40B4-BE49-F238E27FC236}">
                <a16:creationId xmlns:a16="http://schemas.microsoft.com/office/drawing/2014/main" id="{D4768EF4-368D-4338-919A-E41A0CCB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EB7888B9-5C0C-466A-B92F-19C5F316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"/>
            <a:ext cx="4000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POSITION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D41F0468-71D5-4438-A271-7C5951A5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457200"/>
            <a:ext cx="400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126E361-F9EF-4284-A5CD-E67F6DCC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876300"/>
            <a:ext cx="97155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트리플과 차이점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6E5FCB04-8195-4231-B493-678791E7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1" y="2249805"/>
            <a:ext cx="4857750" cy="3305175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6" name="직사각형 5">
            <a:extLst xmlns:a="http://schemas.openxmlformats.org/drawingml/2006/main">
              <a:ext uri="{FF2B5EF4-FFF2-40B4-BE49-F238E27FC236}">
                <a16:creationId xmlns:a16="http://schemas.microsoft.com/office/drawing/2014/main" id="{C48F9DCA-5A7E-4F01-BBDD-DF2A5D16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3459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트리플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F62183BF-988C-45DD-B1B6-39F4145D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26230"/>
            <a:ext cx="1619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도시를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정한 뒤</a:t>
            </a:r>
          </a:p>
        </p:txBody>
      </p:sp>
      <p:sp>
        <p:nvSpPr>
          <p:cNvPr id="8" name="직사각형 7">
            <a:extLst xmlns:a="http://schemas.openxmlformats.org/drawingml/2006/main">
              <a:ext uri="{FF2B5EF4-FFF2-40B4-BE49-F238E27FC236}">
                <a16:creationId xmlns:a16="http://schemas.microsoft.com/office/drawing/2014/main" id="{23034159-DA22-44FB-8132-6558C0FD6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192905"/>
            <a:ext cx="1571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일정·예약 연결</a:t>
            </a:r>
          </a:p>
        </p:txBody>
      </p:sp>
      <p:sp>
        <p:nvSpPr>
          <p:cNvPr id="9" name="card">
            <a:extLst xmlns:a="http://schemas.openxmlformats.org/drawingml/2006/main">
              <a:ext uri="{FF2B5EF4-FFF2-40B4-BE49-F238E27FC236}">
                <a16:creationId xmlns:a16="http://schemas.microsoft.com/office/drawing/2014/main" id="{D9DDA27C-1020-4F08-92F3-ADE39422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31105"/>
            <a:ext cx="1428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0DD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94E3B12A-A37D-40FF-86C2-17C3A4AA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088255"/>
            <a:ext cx="1428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222222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222222"/>
                </a:solidFill>
                <a:latin typeface="Aptos Mono"/>
                <a:ea typeface="Aptos Mono"/>
                <a:cs typeface="Aptos Mono"/>
              </a:rPr>
              <a:t>CITY → PLAN</a:t>
            </a:r>
          </a:p>
        </p:txBody>
      </p:sp>
      <p:sp>
        <p:nvSpPr>
          <p:cNvPr id="11" name="card">
            <a:extLst xmlns:a="http://schemas.openxmlformats.org/drawingml/2006/main">
              <a:ext uri="{FF2B5EF4-FFF2-40B4-BE49-F238E27FC236}">
                <a16:creationId xmlns:a16="http://schemas.microsoft.com/office/drawing/2014/main" id="{06E1C0C9-9484-4AE7-A29D-B60A178B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2" y="2249805"/>
            <a:ext cx="5105398" cy="3305175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26518"/>
            </a:solidFill>
            <a:prstDash val="solid"/>
          </a:ln>
        </p:spPr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0806A86B-41EB-4F21-A12C-6DFBA3C1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5473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1725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Lovv</a:t>
            </a:r>
          </a:p>
        </p:txBody>
      </p:sp>
      <p:sp>
        <p:nvSpPr>
          <p:cNvPr id="13" name="card">
            <a:extLst xmlns:a="http://schemas.openxmlformats.org/drawingml/2006/main">
              <a:ext uri="{FF2B5EF4-FFF2-40B4-BE49-F238E27FC236}">
                <a16:creationId xmlns:a16="http://schemas.microsoft.com/office/drawing/2014/main" id="{42E733CA-BC08-4D41-B5C7-AAE35961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92830"/>
            <a:ext cx="1571625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9F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직사각형 13">
            <a:extLst xmlns:a="http://schemas.openxmlformats.org/drawingml/2006/main">
              <a:ext uri="{FF2B5EF4-FFF2-40B4-BE49-F238E27FC236}">
                <a16:creationId xmlns:a16="http://schemas.microsoft.com/office/drawing/2014/main" id="{3F1EEB9F-EE66-4D19-A60E-79AC0FEE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49980"/>
            <a:ext cx="15716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CONDITION → CITY</a:t>
            </a:r>
          </a:p>
        </p:txBody>
      </p:sp>
      <p:sp>
        <p:nvSpPr>
          <p:cNvPr id="15" name="직사각형 14">
            <a:extLst xmlns:a="http://schemas.openxmlformats.org/drawingml/2006/main">
              <a:ext uri="{FF2B5EF4-FFF2-40B4-BE49-F238E27FC236}">
                <a16:creationId xmlns:a16="http://schemas.microsoft.com/office/drawing/2014/main" id="{6A7E1EEA-C9C8-46F7-87A1-F8F25DA1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11930"/>
            <a:ext cx="2000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국가·시기·취향에서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소도시 발견</a:t>
            </a:r>
          </a:p>
        </p:txBody>
      </p:sp>
      <p:pic>
        <p:nvPicPr>
          <p:cNvPr id="43" name="그림 1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3bfa0582b4b03"/>
          <a:srcRect xmlns:a="http://schemas.openxmlformats.org/drawingml/2006/main" l="4909" t="0" r="490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20125" y="4030980"/>
            <a:ext cx="800100" cy="590550"/>
          </a:xfrm>
          <a:prstGeom xmlns:a="http://schemas.openxmlformats.org/drawingml/2006/main" prst="rect">
            <a:avLst/>
          </a:prstGeom>
        </p:spPr>
      </p:pic>
      <p:pic>
        <p:nvPicPr>
          <p:cNvPr id="44" name="그림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d2cfbdf1134403"/>
          <a:srcRect xmlns:a="http://schemas.openxmlformats.org/drawingml/2006/main" l="4782" t="0" r="478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01200" y="4030980"/>
            <a:ext cx="800100" cy="590550"/>
          </a:xfrm>
          <a:prstGeom xmlns:a="http://schemas.openxmlformats.org/drawingml/2006/main" prst="rect">
            <a:avLst/>
          </a:prstGeom>
        </p:spPr>
      </p:pic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451C40D8-95C5-445F-8EC1-43CDD4E3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59680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직사각형 18">
            <a:extLst xmlns:a="http://schemas.openxmlformats.org/drawingml/2006/main">
              <a:ext uri="{FF2B5EF4-FFF2-40B4-BE49-F238E27FC236}">
                <a16:creationId xmlns:a16="http://schemas.microsoft.com/office/drawing/2014/main" id="{C6061A89-2199-40F7-8FAD-56BF8A081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1683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수요 분산</a:t>
            </a:r>
          </a:p>
        </p:txBody>
      </p:sp>
      <p:sp>
        <p:nvSpPr>
          <p:cNvPr id="20" name="card">
            <a:extLst xmlns:a="http://schemas.openxmlformats.org/drawingml/2006/main">
              <a:ext uri="{FF2B5EF4-FFF2-40B4-BE49-F238E27FC236}">
                <a16:creationId xmlns:a16="http://schemas.microsoft.com/office/drawing/2014/main" id="{5EB89638-6A77-427C-96F6-69B4ACBB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59680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직사각형 20">
            <a:extLst xmlns:a="http://schemas.openxmlformats.org/drawingml/2006/main">
              <a:ext uri="{FF2B5EF4-FFF2-40B4-BE49-F238E27FC236}">
                <a16:creationId xmlns:a16="http://schemas.microsoft.com/office/drawing/2014/main" id="{CC5AAD98-7013-40A3-BBBA-16522191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1683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근거 추천</a:t>
            </a:r>
          </a:p>
        </p:txBody>
      </p:sp>
      <p:sp>
        <p:nvSpPr>
          <p:cNvPr id="22" name="card">
            <a:extLst xmlns:a="http://schemas.openxmlformats.org/drawingml/2006/main">
              <a:ext uri="{FF2B5EF4-FFF2-40B4-BE49-F238E27FC236}">
                <a16:creationId xmlns:a16="http://schemas.microsoft.com/office/drawing/2014/main" id="{DF67BBA0-8995-4A81-A755-CA88B1BD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059680"/>
            <a:ext cx="8953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CE7D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직사각형 22">
            <a:extLst xmlns:a="http://schemas.openxmlformats.org/drawingml/2006/main">
              <a:ext uri="{FF2B5EF4-FFF2-40B4-BE49-F238E27FC236}">
                <a16:creationId xmlns:a16="http://schemas.microsoft.com/office/drawing/2014/main" id="{D079F8E8-8BFD-469D-BF64-1DC28172E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11683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파트너 확장</a:t>
            </a:r>
          </a:p>
        </p:txBody>
      </p:sp>
    </p:spTree>
    <p:extLst>
      <p:ext uri="{BB962C8B-B14F-4D97-AF65-F5344CB8AC3E}">
        <p14:creationId xmlns:p14="http://schemas.microsoft.com/office/powerpoint/2010/main" val="106865461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ackground">
            <a:extLst xmlns:a="http://schemas.openxmlformats.org/drawingml/2006/main">
              <a:ext uri="{FF2B5EF4-FFF2-40B4-BE49-F238E27FC236}">
                <a16:creationId xmlns:a16="http://schemas.microsoft.com/office/drawing/2014/main" id="{6F0D9EAF-647E-46CD-B659-6DE68901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074DFE44-5180-4670-AEDC-58D36071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· SOURCES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B9B80FA5-94EB-4BC8-8E76-42D183CB6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495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222222"/>
                </a:solidFill>
                <a:latin typeface="Malgun Gothic"/>
                <a:ea typeface="Malgun Gothic"/>
                <a:cs typeface="Malgun Gothic"/>
              </a:rPr>
              <a:t>발표에 사용한 외부 출처</a:t>
            </a:r>
          </a:p>
        </p:txBody>
      </p:sp>
      <p:sp>
        <p:nvSpPr>
          <p:cNvPr id="4" name="직사각형 3">
            <a:extLst xmlns:a="http://schemas.openxmlformats.org/drawingml/2006/main">
              <a:ext uri="{FF2B5EF4-FFF2-40B4-BE49-F238E27FC236}">
                <a16:creationId xmlns:a16="http://schemas.microsoft.com/office/drawing/2014/main" id="{2354B838-B61C-4737-A85D-77C9066B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57200"/>
            <a:ext cx="400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C9B2A4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5" name="PROBLEM · TREND box">
            <a:extLst xmlns:a="http://schemas.openxmlformats.org/drawingml/2006/main">
              <a:ext uri="{FF2B5EF4-FFF2-40B4-BE49-F238E27FC236}">
                <a16:creationId xmlns:a16="http://schemas.microsoft.com/office/drawing/2014/main" id="{4D473492-9D39-4E71-98D1-7565796E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16480"/>
            <a:ext cx="5095875" cy="14287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6" name="직사각형 5">
            <a:extLst xmlns:a="http://schemas.openxmlformats.org/drawingml/2006/main">
              <a:ext uri="{FF2B5EF4-FFF2-40B4-BE49-F238E27FC236}">
                <a16:creationId xmlns:a16="http://schemas.microsoft.com/office/drawing/2014/main" id="{4C7D9954-3ABB-42AF-B40A-DC8369A3B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45080"/>
            <a:ext cx="4638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문제·트렌드</a:t>
            </a:r>
          </a:p>
        </p:txBody>
      </p:sp>
      <p:sp>
        <p:nvSpPr>
          <p:cNvPr id="7" name="직사각형 6">
            <a:extLst xmlns:a="http://schemas.openxmlformats.org/drawingml/2006/main">
              <a:ext uri="{FF2B5EF4-FFF2-40B4-BE49-F238E27FC236}">
                <a16:creationId xmlns:a16="http://schemas.microsoft.com/office/drawing/2014/main" id="{AA89B1A0-36A9-48B3-8C63-ADD80F09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7030"/>
            <a:ext cx="4638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UN Tourism · AP · news.com.au · Guardian</a:t>
            </a:r>
          </a:p>
        </p:txBody>
      </p:sp>
      <p:sp>
        <p:nvSpPr>
          <p:cNvPr id="8" name="MARKET · CASE box">
            <a:extLst xmlns:a="http://schemas.openxmlformats.org/drawingml/2006/main">
              <a:ext uri="{FF2B5EF4-FFF2-40B4-BE49-F238E27FC236}">
                <a16:creationId xmlns:a16="http://schemas.microsoft.com/office/drawing/2014/main" id="{90BFA0C5-9581-46C4-B5B2-C75C518DD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16480"/>
            <a:ext cx="5095875" cy="14287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9" name="직사각형 8">
            <a:extLst xmlns:a="http://schemas.openxmlformats.org/drawingml/2006/main">
              <a:ext uri="{FF2B5EF4-FFF2-40B4-BE49-F238E27FC236}">
                <a16:creationId xmlns:a16="http://schemas.microsoft.com/office/drawing/2014/main" id="{F2CEC451-3C3B-4CCB-A91A-C8A1A826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545080"/>
            <a:ext cx="4638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시장·사례</a:t>
            </a:r>
          </a:p>
        </p:txBody>
      </p:sp>
      <p:sp>
        <p:nvSpPr>
          <p:cNvPr id="10" name="직사각형 9">
            <a:extLst xmlns:a="http://schemas.openxmlformats.org/drawingml/2006/main">
              <a:ext uri="{FF2B5EF4-FFF2-40B4-BE49-F238E27FC236}">
                <a16:creationId xmlns:a16="http://schemas.microsoft.com/office/drawing/2014/main" id="{A423D39F-6B0D-42C5-9AA4-47DF7B85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907030"/>
            <a:ext cx="4638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Dailybrief · Hankyung · SomeTrend · Newsis</a:t>
            </a:r>
          </a:p>
        </p:txBody>
      </p:sp>
      <p:sp>
        <p:nvSpPr>
          <p:cNvPr id="11" name="DATA box">
            <a:extLst xmlns:a="http://schemas.openxmlformats.org/drawingml/2006/main">
              <a:ext uri="{FF2B5EF4-FFF2-40B4-BE49-F238E27FC236}">
                <a16:creationId xmlns:a16="http://schemas.microsoft.com/office/drawing/2014/main" id="{32D17BBF-5604-4039-9BB5-BF59970E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4330"/>
            <a:ext cx="5095875" cy="14287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2" name="직사각형 11">
            <a:extLst xmlns:a="http://schemas.openxmlformats.org/drawingml/2006/main">
              <a:ext uri="{FF2B5EF4-FFF2-40B4-BE49-F238E27FC236}">
                <a16:creationId xmlns:a16="http://schemas.microsoft.com/office/drawing/2014/main" id="{16F7BC9E-A6AC-4017-B1C4-586CAF1EF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92930"/>
            <a:ext cx="4638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데이터</a:t>
            </a:r>
          </a:p>
        </p:txBody>
      </p:sp>
      <p:sp>
        <p:nvSpPr>
          <p:cNvPr id="13" name="직사각형 12">
            <a:extLst xmlns:a="http://schemas.openxmlformats.org/drawingml/2006/main">
              <a:ext uri="{FF2B5EF4-FFF2-40B4-BE49-F238E27FC236}">
                <a16:creationId xmlns:a16="http://schemas.microsoft.com/office/drawing/2014/main" id="{1A6E470D-9013-4A72-A612-9DE9E9EF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4638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TourAPI · DataLab · Wikipedia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JNTO/JTA · e-Stat</a:t>
            </a:r>
          </a:p>
        </p:txBody>
      </p:sp>
      <p:sp>
        <p:nvSpPr>
          <p:cNvPr id="14" name="SPEC DOCS · oh_my_documents box">
            <a:extLst xmlns:a="http://schemas.openxmlformats.org/drawingml/2006/main">
              <a:ext uri="{FF2B5EF4-FFF2-40B4-BE49-F238E27FC236}">
                <a16:creationId xmlns:a16="http://schemas.microsoft.com/office/drawing/2014/main" id="{AF5D685F-F274-4137-9F26-C87C5364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164330"/>
            <a:ext cx="5095875" cy="14287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CAB6"/>
            </a:solidFill>
            <a:prstDash val="solid"/>
          </a:ln>
        </p:spPr>
      </p:sp>
      <p:sp>
        <p:nvSpPr>
          <p:cNvPr id="15" name="직사각형 14">
            <a:extLst xmlns:a="http://schemas.openxmlformats.org/drawingml/2006/main">
              <a:ext uri="{FF2B5EF4-FFF2-40B4-BE49-F238E27FC236}">
                <a16:creationId xmlns:a16="http://schemas.microsoft.com/office/drawing/2014/main" id="{ADE4CE84-B88E-460A-A8B8-356BD4CB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392930"/>
            <a:ext cx="46386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D44A14"/>
                </a:solidFill>
                <a:latin typeface="Aptos Mono"/>
                <a:ea typeface="Aptos Mono"/>
                <a:cs typeface="Aptos Mono"/>
              </a:rPr>
              <a:t>서비스·비교</a:t>
            </a:r>
          </a:p>
        </p:txBody>
      </p:sp>
      <p:sp>
        <p:nvSpPr>
          <p:cNvPr id="16" name="직사각형 15">
            <a:extLst xmlns:a="http://schemas.openxmlformats.org/drawingml/2006/main">
              <a:ext uri="{FF2B5EF4-FFF2-40B4-BE49-F238E27FC236}">
                <a16:creationId xmlns:a16="http://schemas.microsoft.com/office/drawing/2014/main" id="{53E78402-D3D9-4A73-ADEF-1AF675D1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754880"/>
            <a:ext cx="46386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defRPr>
            </a:pPr>
            <a:r>
              <a:rPr sz="975" b="0">
                <a:solidFill>
                  <a:srgbClr val="666666"/>
                </a:solidFill>
                <a:latin typeface="Malgun Gothic"/>
                <a:ea typeface="Malgun Gothic"/>
                <a:cs typeface="Malgun Gothic"/>
              </a:rPr>
              <a:t>Triple Guide · InterparkTriple</a:t>
            </a:r>
          </a:p>
        </p:txBody>
      </p:sp>
    </p:spTree>
    <p:extLst>
      <p:ext uri="{BB962C8B-B14F-4D97-AF65-F5344CB8AC3E}">
        <p14:creationId xmlns:p14="http://schemas.microsoft.com/office/powerpoint/2010/main" val="193807888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background">
            <a:extLst xmlns:a="http://schemas.openxmlformats.org/drawingml/2006/main">
              <a:ext uri="{FF2B5EF4-FFF2-40B4-BE49-F238E27FC236}">
                <a16:creationId xmlns:a16="http://schemas.microsoft.com/office/drawing/2014/main" id="{D8F4211E-84FC-4A6C-9402-EC99EF46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1F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직사각형 1">
            <a:extLst xmlns:a="http://schemas.openxmlformats.org/drawingml/2006/main">
              <a:ext uri="{FF2B5EF4-FFF2-40B4-BE49-F238E27FC236}">
                <a16:creationId xmlns:a16="http://schemas.microsoft.com/office/drawing/2014/main" id="{255BC496-D54D-4E14-8208-BB3304E7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8590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C89E84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C89E84"/>
                </a:solidFill>
                <a:latin typeface="Aptos Mono"/>
                <a:ea typeface="Aptos Mono"/>
                <a:cs typeface="Aptos Mono"/>
              </a:rPr>
              <a:t>LOCAL · VIBE · VOYAGE</a:t>
            </a:r>
          </a:p>
        </p:txBody>
      </p:sp>
      <p:sp>
        <p:nvSpPr>
          <p:cNvPr id="3" name="직사각형 2">
            <a:extLst xmlns:a="http://schemas.openxmlformats.org/drawingml/2006/main">
              <a:ext uri="{FF2B5EF4-FFF2-40B4-BE49-F238E27FC236}">
                <a16:creationId xmlns:a16="http://schemas.microsoft.com/office/drawing/2014/main" id="{DECE3B3A-10F3-42CA-A5A3-0B209A6E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14550"/>
            <a:ext cx="12192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4350" b="1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Q  &amp;  A</a:t>
            </a:r>
          </a:p>
        </p:txBody>
      </p:sp>
      <p:sp>
        <p:nvSpPr>
          <p:cNvPr id="4" name="직사각형 3">
            <a:extLst xmlns:a="http://schemas.openxmlformats.org/drawingml/2006/main">
              <a:ext uri="{FF2B5EF4-FFF2-40B4-BE49-F238E27FC236}">
                <a16:creationId xmlns:a16="http://schemas.microsoft.com/office/drawing/2014/main" id="{D28AFD14-93B9-4C0F-923B-EA01D83D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6705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26518"/>
                </a:solidFill>
                <a:latin typeface="Georgia"/>
                <a:ea typeface="Georgia"/>
                <a:cs typeface="Georgia"/>
              </a:defRPr>
            </a:pPr>
            <a:r>
              <a:rPr sz="2400" b="1">
                <a:solidFill>
                  <a:srgbClr val="F26518"/>
                </a:solidFill>
                <a:latin typeface="Georgia"/>
                <a:ea typeface="Georgia"/>
                <a:cs typeface="Georgia"/>
              </a:rPr>
              <a:t>Lovv</a:t>
            </a:r>
          </a:p>
        </p:txBody>
      </p:sp>
      <p:sp>
        <p:nvSpPr>
          <p:cNvPr id="5" name="직사각형 4">
            <a:extLst xmlns:a="http://schemas.openxmlformats.org/drawingml/2006/main">
              <a:ext uri="{FF2B5EF4-FFF2-40B4-BE49-F238E27FC236}">
                <a16:creationId xmlns:a16="http://schemas.microsoft.com/office/drawing/2014/main" id="{5B386B68-1DE1-42B2-82D5-0EACC515E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48125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C7B0A2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C7B0A2"/>
                </a:solidFill>
                <a:latin typeface="Malgun Gothic"/>
                <a:ea typeface="Malgun Gothic"/>
                <a:cs typeface="Malgun Gothic"/>
              </a:rPr>
              <a:t>감사합니다 · 조동휘 · 2026.06.16</a:t>
            </a:r>
          </a:p>
        </p:txBody>
      </p:sp>
    </p:spTree>
    <p:extLst>
      <p:ext uri="{BB962C8B-B14F-4D97-AF65-F5344CB8AC3E}">
        <p14:creationId xmlns:p14="http://schemas.microsoft.com/office/powerpoint/2010/main" val="3462452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2026-06-15T03:35:38.5670000Z</dcterms:created>
  <dcterms:modified xsi:type="dcterms:W3CDTF">2026-06-15T03:35:38.5670000Z</dcterms:modified>
</coreProperties>
</file>